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 u="sng">
                <a:solidFill>
                  <a:srgbClr val="261A10"/>
                </a:solidFill>
                <a:latin typeface="Bernard MT Condensed"/>
              </a:rPr>
              <a:t>LOVELY PROFESSIONAL UNIVERSITY</a:t>
            </a:r>
          </a:p>
          <a:p>
            <a:pPr algn="ctr">
              <a:spcBef>
                <a:spcPts val="600"/>
              </a:spcBef>
            </a:pPr>
            <a:r>
              <a:rPr sz="2600" b="0" i="0" u="sng">
                <a:solidFill>
                  <a:srgbClr val="261A10"/>
                </a:solidFill>
                <a:latin typeface="Bernard MT Condensed"/>
              </a:rPr>
              <a:t>SCHOOL OF LAW</a:t>
            </a:r>
          </a:p>
        </p:txBody>
      </p:sp>
      <p:pic>
        <p:nvPicPr>
          <p:cNvPr id="5" name="Picture 4" descr="lpu_s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607" y="1783080"/>
            <a:ext cx="1554480" cy="1571555"/>
          </a:xfrm>
          <a:prstGeom prst="rect">
            <a:avLst/>
          </a:prstGeom>
        </p:spPr>
      </p:pic>
      <p:pic>
        <p:nvPicPr>
          <p:cNvPr id="6" name="Picture 5" descr="qutb_minar.jpg"/>
          <p:cNvPicPr>
            <a:picLocks noChangeAspect="1"/>
          </p:cNvPicPr>
          <p:nvPr/>
        </p:nvPicPr>
        <p:blipFill>
          <a:blip r:embed="rId3"/>
          <a:srcRect l="16667" r="16667"/>
          <a:stretch>
            <a:fillRect/>
          </a:stretch>
        </p:blipFill>
        <p:spPr>
          <a:xfrm>
            <a:off x="502920" y="1920240"/>
            <a:ext cx="1554480" cy="3108960"/>
          </a:xfrm>
          <a:prstGeom prst="rect">
            <a:avLst/>
          </a:prstGeom>
          <a:ln w="25400">
            <a:solidFill>
              <a:srgbClr val="C88A3C"/>
            </a:solidFill>
          </a:ln>
        </p:spPr>
      </p:pic>
      <p:pic>
        <p:nvPicPr>
          <p:cNvPr id="7" name="Picture 6" descr="mamluk_cavalry.jpg"/>
          <p:cNvPicPr>
            <a:picLocks noChangeAspect="1"/>
          </p:cNvPicPr>
          <p:nvPr/>
        </p:nvPicPr>
        <p:blipFill>
          <a:blip r:embed="rId4"/>
          <a:srcRect l="12500" r="12500"/>
          <a:stretch>
            <a:fillRect/>
          </a:stretch>
        </p:blipFill>
        <p:spPr>
          <a:xfrm>
            <a:off x="10134295" y="1920240"/>
            <a:ext cx="1554480" cy="3108960"/>
          </a:xfrm>
          <a:prstGeom prst="rect">
            <a:avLst/>
          </a:prstGeom>
          <a:ln w="25400">
            <a:solidFill>
              <a:srgbClr val="C88A3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194560" y="3520440"/>
            <a:ext cx="780257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0340D"/>
                </a:solidFill>
                <a:latin typeface="Bernard MT Condensed"/>
              </a:rPr>
              <a:t>CA – 01 HISTORY (SSC231)</a:t>
            </a:r>
          </a:p>
          <a:p>
            <a:pPr algn="ctr">
              <a:spcBef>
                <a:spcPts val="400"/>
              </a:spcBef>
            </a:pPr>
            <a:r>
              <a:rPr sz="3400" b="0" i="0" u="sng">
                <a:solidFill>
                  <a:srgbClr val="80340D"/>
                </a:solidFill>
                <a:latin typeface="Bernard MT Condensed"/>
              </a:rPr>
              <a:t>SLAVE DYNASTY (MAMLUK DYNASTY)</a:t>
            </a:r>
          </a:p>
          <a:p>
            <a:pPr algn="ctr">
              <a:spcBef>
                <a:spcPts val="400"/>
              </a:spcBef>
            </a:pPr>
            <a:r>
              <a:rPr sz="1600" b="0" i="1">
                <a:solidFill>
                  <a:srgbClr val="261A10"/>
                </a:solidFill>
                <a:latin typeface="Times New Roman"/>
              </a:rPr>
              <a:t>Delhi Sultanate • 1206 – 1290 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5120640"/>
            <a:ext cx="4023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0">
                <a:solidFill>
                  <a:srgbClr val="261A10"/>
                </a:solidFill>
                <a:latin typeface="Bernard MT Condensed"/>
              </a:rPr>
              <a:t>Submitted by :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261A10"/>
                </a:solidFill>
                <a:latin typeface="Times New Roman"/>
              </a:rPr>
              <a:t>Sangam Sitapuri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261A10"/>
                </a:solidFill>
                <a:latin typeface="Times New Roman"/>
              </a:rPr>
              <a:t>Reg. no. – RK202406B65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261A10"/>
                </a:solidFill>
                <a:latin typeface="Times New Roman"/>
              </a:rPr>
              <a:t>Course – SSC231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512064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0">
                <a:solidFill>
                  <a:srgbClr val="261A10"/>
                </a:solidFill>
                <a:latin typeface="Bernard MT Condensed"/>
              </a:rPr>
              <a:t>Submitted to :</a:t>
            </a:r>
          </a:p>
          <a:p>
            <a:pPr>
              <a:spcBef>
                <a:spcPts val="200"/>
              </a:spcBef>
            </a:pPr>
            <a:r>
              <a:rPr sz="1400" b="1" i="0" u="sng">
                <a:solidFill>
                  <a:srgbClr val="261A10"/>
                </a:solidFill>
                <a:latin typeface="Times New Roman"/>
              </a:rPr>
              <a:t>Dr. Vandana Arya</a:t>
            </a:r>
          </a:p>
        </p:txBody>
      </p:sp>
      <p:sp>
        <p:nvSpPr>
          <p:cNvPr id="11" name="Freeform 10"/>
          <p:cNvSpPr/>
          <p:nvPr/>
        </p:nvSpPr>
        <p:spPr>
          <a:xfrm>
            <a:off x="-1700784" y="5648563"/>
            <a:ext cx="1346454" cy="1013706"/>
          </a:xfrm>
          <a:custGeom>
            <a:avLst/>
            <a:gdLst/>
            <a:ahLst/>
            <a:cxnLst/>
            <a:rect l="l" t="t" r="r" b="b"/>
            <a:pathLst>
              <a:path w="1346454" h="1013706">
                <a:moveTo>
                  <a:pt x="1240155" y="141448"/>
                </a:moveTo>
                <a:lnTo>
                  <a:pt x="1346454" y="282895"/>
                </a:lnTo>
                <a:lnTo>
                  <a:pt x="1204722" y="353619"/>
                </a:lnTo>
                <a:lnTo>
                  <a:pt x="1086612" y="447917"/>
                </a:lnTo>
                <a:lnTo>
                  <a:pt x="1145667" y="660088"/>
                </a:lnTo>
                <a:lnTo>
                  <a:pt x="1181100" y="990132"/>
                </a:lnTo>
                <a:lnTo>
                  <a:pt x="1098423" y="990132"/>
                </a:lnTo>
                <a:lnTo>
                  <a:pt x="1039368" y="683662"/>
                </a:lnTo>
                <a:lnTo>
                  <a:pt x="732282" y="730812"/>
                </a:lnTo>
                <a:lnTo>
                  <a:pt x="673227" y="1013706"/>
                </a:lnTo>
                <a:lnTo>
                  <a:pt x="590550" y="1013706"/>
                </a:lnTo>
                <a:lnTo>
                  <a:pt x="614172" y="683662"/>
                </a:lnTo>
                <a:lnTo>
                  <a:pt x="377952" y="636513"/>
                </a:lnTo>
                <a:lnTo>
                  <a:pt x="354330" y="966557"/>
                </a:lnTo>
                <a:lnTo>
                  <a:pt x="271653" y="966557"/>
                </a:lnTo>
                <a:lnTo>
                  <a:pt x="295275" y="589364"/>
                </a:lnTo>
                <a:lnTo>
                  <a:pt x="70866" y="542215"/>
                </a:lnTo>
                <a:lnTo>
                  <a:pt x="0" y="330044"/>
                </a:lnTo>
                <a:lnTo>
                  <a:pt x="188976" y="424342"/>
                </a:lnTo>
                <a:lnTo>
                  <a:pt x="425196" y="377193"/>
                </a:lnTo>
                <a:lnTo>
                  <a:pt x="732282" y="353619"/>
                </a:lnTo>
                <a:lnTo>
                  <a:pt x="992124" y="165022"/>
                </a:lnTo>
                <a:lnTo>
                  <a:pt x="1062990" y="0"/>
                </a:lnTo>
                <a:lnTo>
                  <a:pt x="1133856" y="117873"/>
                </a:lnTo>
                <a:close/>
              </a:path>
            </a:pathLst>
          </a:custGeom>
          <a:solidFill>
            <a:srgbClr val="261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700" fill="hold"/>
                                        <p:tgtEl>
                                          <p:spTgt spid="5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600" fill="hold"/>
                                        <p:tgtEl>
                                          <p:spTgt spid="8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 -0.015 L 0.2 0 L 0.3 -0.015 L 0.4 0 L 0.5 -0.015 L 0.6 0 L 0.7 -0.015 L 0.8 0 L 0.9 -0.015 L 1.0 0 L 1.18 0 E" pathEditMode="relative" ptsTypes="">
                                      <p:cBhvr>
                                        <p:cTn id="37" dur="7000" repeatCount="indefinite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  <p:bldP spid="9" grpId="0"/>
      <p:bldP spid="10" grpId="0"/>
      <p:bldP spid="5" grpId="0"/>
      <p:bldP spid="6" grpId="0"/>
      <p:bldP spid="7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2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0" i="0" u="sng">
                <a:solidFill>
                  <a:srgbClr val="0C3512"/>
                </a:solidFill>
                <a:latin typeface="Bernard MT Condensed"/>
              </a:rPr>
              <a:t>TABLE OF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01.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Introduction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02.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Timeline at a Glance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03.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Who Were the Mamluks?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04.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1206 – Birth of the Sultanate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05.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Qutb-ud-din Aibak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06.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Iltutmish – The Real Founder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07.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The Mongol Storm (1221)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08.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Razia Sultan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09.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The Puppet Years (1240–66)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10.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Balban – Blood and Iron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11.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Fall of the Dynasty (1290)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12.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Administration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13.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Art and Architecture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14.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Legacy and Significance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15.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Conclusion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3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INTRODUCTION</a:t>
            </a:r>
          </a:p>
        </p:txBody>
      </p:sp>
      <p:sp>
        <p:nvSpPr>
          <p:cNvPr id="6" name="Oval 5"/>
          <p:cNvSpPr/>
          <p:nvPr/>
        </p:nvSpPr>
        <p:spPr>
          <a:xfrm rot="20160000">
            <a:off x="8991295" y="4297680"/>
            <a:ext cx="502920" cy="310896"/>
          </a:xfrm>
          <a:prstGeom prst="ellipse">
            <a:avLst/>
          </a:prstGeom>
          <a:noFill/>
          <a:ln w="38100">
            <a:solidFill>
              <a:srgbClr val="261A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440000">
            <a:off x="9375343" y="4041647"/>
            <a:ext cx="502920" cy="310896"/>
          </a:xfrm>
          <a:prstGeom prst="ellipse">
            <a:avLst/>
          </a:prstGeom>
          <a:noFill/>
          <a:ln w="38100">
            <a:solidFill>
              <a:srgbClr val="261A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20160000">
            <a:off x="9759391" y="3785615"/>
            <a:ext cx="502920" cy="310896"/>
          </a:xfrm>
          <a:prstGeom prst="ellipse">
            <a:avLst/>
          </a:prstGeom>
          <a:noFill/>
          <a:ln w="38100">
            <a:solidFill>
              <a:srgbClr val="261A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3840000">
            <a:off x="10180015" y="3502151"/>
            <a:ext cx="502920" cy="310896"/>
          </a:xfrm>
          <a:prstGeom prst="ellipse">
            <a:avLst/>
          </a:prstGeom>
          <a:noFill/>
          <a:ln w="38100">
            <a:solidFill>
              <a:srgbClr val="261A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10573207" y="3264408"/>
            <a:ext cx="548640" cy="548639"/>
          </a:xfrm>
          <a:prstGeom prst="star8">
            <a:avLst/>
          </a:prstGeom>
          <a:solidFill>
            <a:srgbClr val="C88A3C"/>
          </a:solidFill>
          <a:ln w="15875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Up Arrow 10"/>
          <p:cNvSpPr/>
          <p:nvPr/>
        </p:nvSpPr>
        <p:spPr>
          <a:xfrm>
            <a:off x="9786823" y="2468880"/>
            <a:ext cx="566928" cy="868679"/>
          </a:xfrm>
          <a:prstGeom prst="upArrow">
            <a:avLst/>
          </a:prstGeom>
          <a:solidFill>
            <a:srgbClr val="2E6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357055" y="2075688"/>
            <a:ext cx="1463040" cy="310896"/>
          </a:xfrm>
          <a:prstGeom prst="rect">
            <a:avLst/>
          </a:prstGeom>
          <a:solidFill>
            <a:srgbClr val="C88A3C"/>
          </a:solidFill>
          <a:ln w="15875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9357055" y="1691640"/>
            <a:ext cx="457200" cy="411479"/>
          </a:xfrm>
          <a:prstGeom prst="triangle">
            <a:avLst/>
          </a:prstGeom>
          <a:solidFill>
            <a:srgbClr val="C88A3C"/>
          </a:solidFill>
          <a:ln w="15875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>
            <a:off x="9841687" y="1691640"/>
            <a:ext cx="457200" cy="411479"/>
          </a:xfrm>
          <a:prstGeom prst="triangle">
            <a:avLst/>
          </a:prstGeom>
          <a:solidFill>
            <a:srgbClr val="C88A3C"/>
          </a:solidFill>
          <a:ln w="15875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>
            <a:off x="10326319" y="1691640"/>
            <a:ext cx="457200" cy="411479"/>
          </a:xfrm>
          <a:prstGeom prst="triangle">
            <a:avLst/>
          </a:prstGeom>
          <a:solidFill>
            <a:srgbClr val="C88A3C"/>
          </a:solidFill>
          <a:ln w="15875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69703" y="2139696"/>
            <a:ext cx="182880" cy="182880"/>
          </a:xfrm>
          <a:prstGeom prst="ellipse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91295" y="4818888"/>
            <a:ext cx="2194560" cy="457199"/>
          </a:xfrm>
          <a:prstGeom prst="round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0">
                <a:solidFill>
                  <a:srgbClr val="FFE9C9"/>
                </a:solidFill>
                <a:latin typeface="Bernard MT Condensed"/>
              </a:rPr>
              <a:t>slave → sultan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14055" y="549554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From chains to crowns — the story begins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Rulers of Delhi, 1206–1290 CE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— the first dynasty of the Delhi Sultanate, founded after Muhammad Ghori's death.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'Mamluk'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is Arabic for 'one who is owned'. Every sultan of this line was a former slave or a slave's descendant.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Nobody ruled as a slave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— each ruler was legally freed (manumitted) before taking the throne.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Really three families: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the houses of Aibak, Iltutmish and Balban, one after another.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Why it matters: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it laid the foundation of the Delhi Sultanate — Delhi as capital, the tanka coin, the iqta system, the Qutb Minar — shaping north India for 300 years.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300" fill="hold"/>
                                        <p:tgtEl>
                                          <p:spTgt spid="10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22" presetClass="entr" presetSubtype="0" fill="hold" grpId="0" nodeType="withEffect">
                                  <p:stCondLst>
                                    <p:cond delay="12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350" fill="hold"/>
                                        <p:tgtEl>
                                          <p:spTgt spid="12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3" presetID="53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6" dur="350" fill="hold"/>
                                        <p:tgtEl>
                                          <p:spTgt spid="13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7" presetID="53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0" dur="350" fill="hold"/>
                                        <p:tgtEl>
                                          <p:spTgt spid="14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53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4" dur="350" fill="hold"/>
                                        <p:tgtEl>
                                          <p:spTgt spid="15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5" presetID="53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8" dur="350" fill="hold"/>
                                        <p:tgtEl>
                                          <p:spTgt spid="1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0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5" dur="800" autoRev="1" repeatCount="indefinite" fill="hold"/>
                                        <p:tgtEl>
                                          <p:spTgt spid="16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6" grpId="0"/>
      <p:bldP spid="17" grpId="0"/>
      <p:bldP spid="13" grpId="0"/>
      <p:bldP spid="14" grpId="0"/>
      <p:bldP spid="15" grpId="0"/>
      <p:bldP spid="18" grpId="0"/>
      <p:bldP spid="19" grpId="0" build="p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4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TIMELINE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657600"/>
            <a:ext cx="10545775" cy="54864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9759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1206–10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Qutb-ud-din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Aibak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Founder,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'Lakh Baksh'</a:t>
            </a:r>
          </a:p>
        </p:txBody>
      </p:sp>
      <p:sp>
        <p:nvSpPr>
          <p:cNvPr id="8" name="Oval 7"/>
          <p:cNvSpPr/>
          <p:nvPr/>
        </p:nvSpPr>
        <p:spPr>
          <a:xfrm>
            <a:off x="1468983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337663" y="393192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1210–11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Aram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Shah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Weak interlude</a:t>
            </a:r>
          </a:p>
        </p:txBody>
      </p:sp>
      <p:sp>
        <p:nvSpPr>
          <p:cNvPr id="10" name="Oval 9"/>
          <p:cNvSpPr/>
          <p:nvPr/>
        </p:nvSpPr>
        <p:spPr>
          <a:xfrm>
            <a:off x="2986887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855567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1211–36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Iltutmish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Real founder,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tanka, Caliph</a:t>
            </a:r>
          </a:p>
        </p:txBody>
      </p:sp>
      <p:sp>
        <p:nvSpPr>
          <p:cNvPr id="12" name="Oval 11"/>
          <p:cNvSpPr/>
          <p:nvPr/>
        </p:nvSpPr>
        <p:spPr>
          <a:xfrm>
            <a:off x="4504791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73471" y="393192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1236–40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Razia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Sultan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Only woman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on the throne</a:t>
            </a:r>
          </a:p>
        </p:txBody>
      </p:sp>
      <p:sp>
        <p:nvSpPr>
          <p:cNvPr id="14" name="Oval 13"/>
          <p:cNvSpPr/>
          <p:nvPr/>
        </p:nvSpPr>
        <p:spPr>
          <a:xfrm>
            <a:off x="6022695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91375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1240–66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Puppet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Sultans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Rule of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'The Forty'</a:t>
            </a:r>
          </a:p>
        </p:txBody>
      </p:sp>
      <p:sp>
        <p:nvSpPr>
          <p:cNvPr id="16" name="Oval 15"/>
          <p:cNvSpPr/>
          <p:nvPr/>
        </p:nvSpPr>
        <p:spPr>
          <a:xfrm>
            <a:off x="7540599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09279" y="393192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1266–87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Balban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Blood &amp; iron,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Zil-e-Ilahi</a:t>
            </a:r>
          </a:p>
        </p:txBody>
      </p:sp>
      <p:sp>
        <p:nvSpPr>
          <p:cNvPr id="18" name="Oval 17"/>
          <p:cNvSpPr/>
          <p:nvPr/>
        </p:nvSpPr>
        <p:spPr>
          <a:xfrm>
            <a:off x="9058503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27183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1287–90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Kaiqubad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&amp; fall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Khalji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Revolution</a:t>
            </a:r>
          </a:p>
        </p:txBody>
      </p:sp>
      <p:sp>
        <p:nvSpPr>
          <p:cNvPr id="20" name="Oval 19"/>
          <p:cNvSpPr/>
          <p:nvPr/>
        </p:nvSpPr>
        <p:spPr>
          <a:xfrm>
            <a:off x="10576407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-1261872" y="2960264"/>
            <a:ext cx="998981" cy="752104"/>
          </a:xfrm>
          <a:custGeom>
            <a:avLst/>
            <a:gdLst/>
            <a:ahLst/>
            <a:cxnLst/>
            <a:rect l="l" t="t" r="r" b="b"/>
            <a:pathLst>
              <a:path w="998981" h="752104">
                <a:moveTo>
                  <a:pt x="920115" y="104945"/>
                </a:moveTo>
                <a:lnTo>
                  <a:pt x="998981" y="209889"/>
                </a:lnTo>
                <a:lnTo>
                  <a:pt x="893826" y="262362"/>
                </a:lnTo>
                <a:lnTo>
                  <a:pt x="806196" y="332325"/>
                </a:lnTo>
                <a:lnTo>
                  <a:pt x="850011" y="489742"/>
                </a:lnTo>
                <a:lnTo>
                  <a:pt x="876300" y="734613"/>
                </a:lnTo>
                <a:lnTo>
                  <a:pt x="814959" y="734613"/>
                </a:lnTo>
                <a:lnTo>
                  <a:pt x="771144" y="507233"/>
                </a:lnTo>
                <a:lnTo>
                  <a:pt x="543306" y="542215"/>
                </a:lnTo>
                <a:lnTo>
                  <a:pt x="499490" y="752104"/>
                </a:lnTo>
                <a:lnTo>
                  <a:pt x="438150" y="752104"/>
                </a:lnTo>
                <a:lnTo>
                  <a:pt x="455676" y="507233"/>
                </a:lnTo>
                <a:lnTo>
                  <a:pt x="280416" y="472251"/>
                </a:lnTo>
                <a:lnTo>
                  <a:pt x="262890" y="717123"/>
                </a:lnTo>
                <a:lnTo>
                  <a:pt x="201549" y="717123"/>
                </a:lnTo>
                <a:lnTo>
                  <a:pt x="219075" y="437270"/>
                </a:lnTo>
                <a:lnTo>
                  <a:pt x="52578" y="402288"/>
                </a:lnTo>
                <a:lnTo>
                  <a:pt x="0" y="244871"/>
                </a:lnTo>
                <a:lnTo>
                  <a:pt x="140208" y="314834"/>
                </a:lnTo>
                <a:lnTo>
                  <a:pt x="315468" y="279853"/>
                </a:lnTo>
                <a:lnTo>
                  <a:pt x="543306" y="262362"/>
                </a:lnTo>
                <a:lnTo>
                  <a:pt x="736092" y="122435"/>
                </a:lnTo>
                <a:lnTo>
                  <a:pt x="788670" y="0"/>
                </a:lnTo>
                <a:lnTo>
                  <a:pt x="841248" y="87454"/>
                </a:lnTo>
                <a:close/>
              </a:path>
            </a:pathLst>
          </a:custGeom>
          <a:solidFill>
            <a:srgbClr val="261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35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350" fill="hold"/>
                                        <p:tgtEl>
                                          <p:spTgt spid="9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5" dur="350" fill="hold"/>
                                        <p:tgtEl>
                                          <p:spTgt spid="11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350" fill="hold"/>
                                        <p:tgtEl>
                                          <p:spTgt spid="13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350" fill="hold"/>
                                        <p:tgtEl>
                                          <p:spTgt spid="15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0" fill="hold" grpId="0" nodeType="withEffect">
                                  <p:stCondLst>
                                    <p:cond delay="18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6" dur="350" fill="hold"/>
                                        <p:tgtEl>
                                          <p:spTgt spid="1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grpId="0" nodeType="withEffect">
                                  <p:stCondLst>
                                    <p:cond delay="21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3" dur="350" fill="hold"/>
                                        <p:tgtEl>
                                          <p:spTgt spid="19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 -0.015 L 0.2 0 L 0.3 -0.015 L 0.4 0 L 0.5 -0.015 L 0.6 0 L 0.7 -0.015 L 0.8 0 L 0.9 -0.015 L 1.0 0 L 1.18 0 E" pathEditMode="relative" ptsTypes="">
                                      <p:cBhvr>
                                        <p:cTn id="67" dur="5500" repeatCount="indefinite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5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WHO WERE THE MAMLUKS?</a:t>
            </a:r>
          </a:p>
        </p:txBody>
      </p:sp>
      <p:sp>
        <p:nvSpPr>
          <p:cNvPr id="6" name="Rectangle 5"/>
          <p:cNvSpPr/>
          <p:nvPr/>
        </p:nvSpPr>
        <p:spPr>
          <a:xfrm>
            <a:off x="8899855" y="1920240"/>
            <a:ext cx="2377440" cy="384047"/>
          </a:xfrm>
          <a:prstGeom prst="rect">
            <a:avLst/>
          </a:prstGeom>
          <a:solidFill>
            <a:srgbClr val="A8551E"/>
          </a:solidFill>
          <a:ln w="15875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45575" y="2304288"/>
            <a:ext cx="109728" cy="1920239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21847" y="2304288"/>
            <a:ext cx="109728" cy="1920239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99855" y="4206240"/>
            <a:ext cx="2377440" cy="256032"/>
          </a:xfrm>
          <a:prstGeom prst="rect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78263" y="2898648"/>
            <a:ext cx="420624" cy="420623"/>
          </a:xfrm>
          <a:prstGeom prst="ellipse">
            <a:avLst/>
          </a:prstGeom>
          <a:solidFill>
            <a:srgbClr val="C89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786823" y="3337560"/>
            <a:ext cx="603504" cy="868679"/>
          </a:xfrm>
          <a:prstGeom prst="roundRect">
            <a:avLst/>
          </a:prstGeom>
          <a:solidFill>
            <a:srgbClr val="A85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055303" y="2651760"/>
            <a:ext cx="960120" cy="658367"/>
          </a:xfrm>
          <a:prstGeom prst="roundRect">
            <a:avLst/>
          </a:prstGeom>
          <a:solidFill>
            <a:srgbClr val="FFE9C9"/>
          </a:solidFill>
          <a:ln w="15875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80340D"/>
                </a:solidFill>
                <a:latin typeface="Bernard MT Condensed"/>
              </a:rPr>
              <a:t>SOLD</a:t>
            </a:r>
          </a:p>
          <a:p>
            <a:pPr algn="ctr"/>
            <a:r>
              <a:rPr sz="950" b="0">
                <a:solidFill>
                  <a:srgbClr val="261A10"/>
                </a:solidFill>
                <a:latin typeface="Times New Roman"/>
              </a:rPr>
              <a:t>100 dirhams</a:t>
            </a:r>
          </a:p>
        </p:txBody>
      </p:sp>
      <p:sp>
        <p:nvSpPr>
          <p:cNvPr id="13" name="Oval 12"/>
          <p:cNvSpPr/>
          <p:nvPr/>
        </p:nvSpPr>
        <p:spPr>
          <a:xfrm>
            <a:off x="9174175" y="1554480"/>
            <a:ext cx="274320" cy="274319"/>
          </a:xfrm>
          <a:prstGeom prst="ellipse">
            <a:avLst/>
          </a:prstGeom>
          <a:solidFill>
            <a:srgbClr val="C88A3C"/>
          </a:solidFill>
          <a:ln w="1270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77095" y="1554480"/>
            <a:ext cx="274320" cy="274319"/>
          </a:xfrm>
          <a:prstGeom prst="ellipse">
            <a:avLst/>
          </a:prstGeom>
          <a:solidFill>
            <a:srgbClr val="C88A3C"/>
          </a:solidFill>
          <a:ln w="1270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180015" y="1554480"/>
            <a:ext cx="274320" cy="274319"/>
          </a:xfrm>
          <a:prstGeom prst="ellipse">
            <a:avLst/>
          </a:prstGeom>
          <a:solidFill>
            <a:srgbClr val="C88A3C"/>
          </a:solidFill>
          <a:ln w="1270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682935" y="1554480"/>
            <a:ext cx="274320" cy="274319"/>
          </a:xfrm>
          <a:prstGeom prst="ellipse">
            <a:avLst/>
          </a:prstGeom>
          <a:solidFill>
            <a:srgbClr val="C88A3C"/>
          </a:solidFill>
          <a:ln w="1270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4055" y="549554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A boy is bought in Bukhara… a sultan is made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Elite military slaves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(bandagan) — Turkic boys bought in Central Asian markets, trained in war, horsemanship and court manners.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Loyalty by design: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cut off from family and clan, a slave soldier had nobody except his master.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Promotion purely on merit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a talented slave could rise to general, governor… and eventually king.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Not plantation slavery: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they ate well, commanded armies, married into noble families — apprenticeship plus bonded loyalty.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Ghori's 'sons':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asked about having no heir, Ghori said his thousands of Turkish slaves would carry his name — and they did.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450" fill="hold"/>
                                        <p:tgtEl>
                                          <p:spTgt spid="11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53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9" dur="450" fill="hold"/>
                                        <p:tgtEl>
                                          <p:spTgt spid="10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347 E" pathEditMode="relative" ptsTypes="">
                                      <p:cBhvr>
                                        <p:cTn id="36" dur="1500" repeatCount="indefinite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0" presetClass="path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animMotion origin="layout" path="M 0 0 L 0 0.347 E" pathEditMode="relative" ptsTypes="">
                                      <p:cBhvr>
                                        <p:cTn id="40" dur="1700" repeatCount="indefinite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0" presetClass="path" presetSubtype="0" fill="hold" grpId="0" nodeType="after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 0.347 E" pathEditMode="relative" ptsTypes="">
                                      <p:cBhvr>
                                        <p:cTn id="44" dur="1900" repeatCount="indefinite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0" presetClass="path" presetSubtype="0" fill="hold" grpId="0" nodeType="afterEffect">
                                  <p:stCondLst>
                                    <p:cond delay="1050"/>
                                  </p:stCondLst>
                                  <p:childTnLst>
                                    <p:animMotion origin="layout" path="M 0 0 L 0 0.347 E" pathEditMode="relative" ptsTypes="">
                                      <p:cBhvr>
                                        <p:cTn id="48" dur="2100" repeatCount="indefinite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 build="p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6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1206 – BIRTH OF THE SULTANATE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25535" y="1600200"/>
            <a:ext cx="2926080" cy="3200399"/>
          </a:xfrm>
          <a:prstGeom prst="rect">
            <a:avLst/>
          </a:prstGeom>
          <a:solidFill>
            <a:srgbClr val="20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20095" y="1874520"/>
            <a:ext cx="502920" cy="502920"/>
          </a:xfrm>
          <a:prstGeom prst="ellipse">
            <a:avLst/>
          </a:prstGeom>
          <a:solidFill>
            <a:srgbClr val="FFE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>
            <a:off x="9265615" y="3383280"/>
            <a:ext cx="1645920" cy="1234440"/>
          </a:xfrm>
          <a:prstGeom prst="triangle">
            <a:avLst/>
          </a:prstGeom>
          <a:solidFill>
            <a:srgbClr val="A8551E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05695" y="4023359"/>
            <a:ext cx="365760" cy="594360"/>
          </a:xfrm>
          <a:prstGeom prst="rect">
            <a:avLst/>
          </a:prstGeom>
          <a:solidFill>
            <a:srgbClr val="261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 rot="2100000">
            <a:off x="8808415" y="1920240"/>
            <a:ext cx="146304" cy="914399"/>
          </a:xfrm>
          <a:custGeom>
            <a:avLst/>
            <a:gdLst/>
            <a:ahLst/>
            <a:cxnLst/>
            <a:rect l="l" t="t" r="r" b="b"/>
            <a:pathLst>
              <a:path w="146304" h="914399">
                <a:moveTo>
                  <a:pt x="73152" y="0"/>
                </a:moveTo>
                <a:lnTo>
                  <a:pt x="92659" y="119062"/>
                </a:lnTo>
                <a:lnTo>
                  <a:pt x="92659" y="642937"/>
                </a:lnTo>
                <a:lnTo>
                  <a:pt x="146304" y="657224"/>
                </a:lnTo>
                <a:lnTo>
                  <a:pt x="146304" y="695324"/>
                </a:lnTo>
                <a:lnTo>
                  <a:pt x="97536" y="695324"/>
                </a:lnTo>
                <a:lnTo>
                  <a:pt x="97536" y="838199"/>
                </a:lnTo>
                <a:lnTo>
                  <a:pt x="117043" y="876299"/>
                </a:lnTo>
                <a:lnTo>
                  <a:pt x="73152" y="914399"/>
                </a:lnTo>
                <a:lnTo>
                  <a:pt x="29260" y="876299"/>
                </a:lnTo>
                <a:lnTo>
                  <a:pt x="48768" y="838199"/>
                </a:lnTo>
                <a:lnTo>
                  <a:pt x="48768" y="695324"/>
                </a:lnTo>
                <a:lnTo>
                  <a:pt x="0" y="695324"/>
                </a:lnTo>
                <a:lnTo>
                  <a:pt x="0" y="657224"/>
                </a:lnTo>
                <a:lnTo>
                  <a:pt x="53644" y="642937"/>
                </a:lnTo>
                <a:lnTo>
                  <a:pt x="53644" y="119062"/>
                </a:lnTo>
                <a:close/>
              </a:path>
            </a:pathLst>
          </a:custGeom>
          <a:solidFill>
            <a:srgbClr val="CDC9BE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 rot="19500000">
            <a:off x="11094415" y="2103120"/>
            <a:ext cx="146304" cy="914399"/>
          </a:xfrm>
          <a:custGeom>
            <a:avLst/>
            <a:gdLst/>
            <a:ahLst/>
            <a:cxnLst/>
            <a:rect l="l" t="t" r="r" b="b"/>
            <a:pathLst>
              <a:path w="146304" h="914399">
                <a:moveTo>
                  <a:pt x="73152" y="0"/>
                </a:moveTo>
                <a:lnTo>
                  <a:pt x="53644" y="119062"/>
                </a:lnTo>
                <a:lnTo>
                  <a:pt x="53644" y="642937"/>
                </a:lnTo>
                <a:lnTo>
                  <a:pt x="0" y="657224"/>
                </a:lnTo>
                <a:lnTo>
                  <a:pt x="0" y="695324"/>
                </a:lnTo>
                <a:lnTo>
                  <a:pt x="48768" y="695324"/>
                </a:lnTo>
                <a:lnTo>
                  <a:pt x="48768" y="838199"/>
                </a:lnTo>
                <a:lnTo>
                  <a:pt x="29260" y="876299"/>
                </a:lnTo>
                <a:lnTo>
                  <a:pt x="73152" y="914399"/>
                </a:lnTo>
                <a:lnTo>
                  <a:pt x="117043" y="876299"/>
                </a:lnTo>
                <a:lnTo>
                  <a:pt x="97536" y="838199"/>
                </a:lnTo>
                <a:lnTo>
                  <a:pt x="97536" y="695324"/>
                </a:lnTo>
                <a:lnTo>
                  <a:pt x="146304" y="695324"/>
                </a:lnTo>
                <a:lnTo>
                  <a:pt x="146304" y="657224"/>
                </a:lnTo>
                <a:lnTo>
                  <a:pt x="92659" y="642937"/>
                </a:lnTo>
                <a:lnTo>
                  <a:pt x="92659" y="119062"/>
                </a:lnTo>
                <a:close/>
              </a:path>
            </a:pathLst>
          </a:custGeom>
          <a:solidFill>
            <a:srgbClr val="CDC9BE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951415" y="1737360"/>
            <a:ext cx="146304" cy="914399"/>
          </a:xfrm>
          <a:custGeom>
            <a:avLst/>
            <a:gdLst/>
            <a:ahLst/>
            <a:cxnLst/>
            <a:rect l="l" t="t" r="r" b="b"/>
            <a:pathLst>
              <a:path w="146304" h="914399">
                <a:moveTo>
                  <a:pt x="73152" y="0"/>
                </a:moveTo>
                <a:lnTo>
                  <a:pt x="92659" y="119062"/>
                </a:lnTo>
                <a:lnTo>
                  <a:pt x="92659" y="642937"/>
                </a:lnTo>
                <a:lnTo>
                  <a:pt x="146304" y="657224"/>
                </a:lnTo>
                <a:lnTo>
                  <a:pt x="146304" y="695324"/>
                </a:lnTo>
                <a:lnTo>
                  <a:pt x="97536" y="695324"/>
                </a:lnTo>
                <a:lnTo>
                  <a:pt x="97536" y="838199"/>
                </a:lnTo>
                <a:lnTo>
                  <a:pt x="117043" y="876299"/>
                </a:lnTo>
                <a:lnTo>
                  <a:pt x="73152" y="914399"/>
                </a:lnTo>
                <a:lnTo>
                  <a:pt x="29260" y="876299"/>
                </a:lnTo>
                <a:lnTo>
                  <a:pt x="48768" y="838199"/>
                </a:lnTo>
                <a:lnTo>
                  <a:pt x="48768" y="695324"/>
                </a:lnTo>
                <a:lnTo>
                  <a:pt x="0" y="695324"/>
                </a:lnTo>
                <a:lnTo>
                  <a:pt x="0" y="657224"/>
                </a:lnTo>
                <a:lnTo>
                  <a:pt x="53644" y="642937"/>
                </a:lnTo>
                <a:lnTo>
                  <a:pt x="53644" y="119062"/>
                </a:lnTo>
                <a:close/>
              </a:path>
            </a:pathLst>
          </a:custGeom>
          <a:solidFill>
            <a:srgbClr val="CDC9BE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9786823" y="2834640"/>
            <a:ext cx="640080" cy="640079"/>
          </a:xfrm>
          <a:prstGeom prst="star8">
            <a:avLst/>
          </a:prstGeom>
          <a:solidFill>
            <a:srgbClr val="C88A3C"/>
          </a:solidFill>
          <a:ln w="15875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28455" y="4937760"/>
            <a:ext cx="1920240" cy="411479"/>
          </a:xfrm>
          <a:prstGeom prst="round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50" b="0">
                <a:solidFill>
                  <a:srgbClr val="FFE9C9"/>
                </a:solidFill>
                <a:latin typeface="Bernard MT Condensed"/>
              </a:rPr>
              <a:t>no heir — only swords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4055" y="549554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Damyak, March 1206 — daggers in the night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March 1206: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Muhammad Ghori assassinated at Damyak on the Indus — no son, only ambitious slave generals.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Three rivals: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Yildiz at Ghazni, Qabacha at Multan-Uch, Qutb-ud-din Aibak holding the Indian territories.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Aibak moved fastest: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invited by the nobles and citizens of Lahore, he took charge of Hindustan within months.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Legitimacy mattered: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he used modest titles (Malik, Sipahsalar) until formally freed and recognised (c. 1208).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The result: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an independent Indian kingdom owing nothing to Ghazni — the Delhi Sultanate begins here.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0.12 -0.1 L 0 0 E" pathEditMode="relative" ptsTypes="">
                                      <p:cBhvr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1800000">
                                      <p:cBhvr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.12 -0.1 L 0 0 E" pathEditMode="relative" ptsTypes="">
                                      <p:cBhvr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1800000">
                                      <p:cBhvr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" presetID="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0.14 L 0 0 E" pathEditMode="relative" ptsTypes="">
                                      <p:cBhvr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53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8" dur="300" fill="hold"/>
                                        <p:tgtEl>
                                          <p:spTgt spid="13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5" dur="700" autoRev="1" repeatCount="indefinite" fill="hold"/>
                                        <p:tgtEl>
                                          <p:spTgt spid="13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3" grpId="0"/>
      <p:bldP spid="14" grpId="0"/>
      <p:bldP spid="10" grpId="0"/>
      <p:bldP spid="11" grpId="0"/>
      <p:bldP spid="12" grpId="0"/>
      <p:bldP spid="15" grpId="0"/>
      <p:bldP spid="16" grpId="0" build="p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7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QUTB-UD-DIN AIBAK (r. 1206–1210)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48495" y="2468880"/>
            <a:ext cx="1280160" cy="1554479"/>
          </a:xfrm>
          <a:prstGeom prst="roundRect">
            <a:avLst/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265615" y="3886200"/>
            <a:ext cx="1645920" cy="411479"/>
          </a:xfrm>
          <a:prstGeom prst="rect">
            <a:avLst/>
          </a:prstGeom>
          <a:solidFill>
            <a:srgbClr val="A8551E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082735" y="4297680"/>
            <a:ext cx="2011680" cy="274319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>
            <a:off x="9814255" y="1920240"/>
            <a:ext cx="548640" cy="548639"/>
          </a:xfrm>
          <a:prstGeom prst="star5">
            <a:avLst/>
          </a:prstGeom>
          <a:solidFill>
            <a:srgbClr val="C88A3C"/>
          </a:solidFill>
          <a:ln w="15875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991295" y="1645920"/>
            <a:ext cx="292608" cy="292607"/>
          </a:xfrm>
          <a:prstGeom prst="ellipse">
            <a:avLst/>
          </a:prstGeom>
          <a:solidFill>
            <a:srgbClr val="C88A3C"/>
          </a:solidFill>
          <a:ln w="1270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58223" y="1645920"/>
            <a:ext cx="292608" cy="292607"/>
          </a:xfrm>
          <a:prstGeom prst="ellipse">
            <a:avLst/>
          </a:prstGeom>
          <a:solidFill>
            <a:srgbClr val="C88A3C"/>
          </a:solidFill>
          <a:ln w="1270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25151" y="1645920"/>
            <a:ext cx="292608" cy="292607"/>
          </a:xfrm>
          <a:prstGeom prst="ellipse">
            <a:avLst/>
          </a:prstGeom>
          <a:solidFill>
            <a:srgbClr val="C88A3C"/>
          </a:solidFill>
          <a:ln w="1270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92079" y="1645920"/>
            <a:ext cx="292608" cy="292607"/>
          </a:xfrm>
          <a:prstGeom prst="ellipse">
            <a:avLst/>
          </a:prstGeom>
          <a:solidFill>
            <a:srgbClr val="C88A3C"/>
          </a:solidFill>
          <a:ln w="1270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259007" y="1645920"/>
            <a:ext cx="292608" cy="292607"/>
          </a:xfrm>
          <a:prstGeom prst="ellipse">
            <a:avLst/>
          </a:prstGeom>
          <a:solidFill>
            <a:srgbClr val="C88A3C"/>
          </a:solidFill>
          <a:ln w="1270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37015" y="4800600"/>
            <a:ext cx="2103120" cy="457199"/>
          </a:xfrm>
          <a:prstGeom prst="round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0">
                <a:solidFill>
                  <a:srgbClr val="FFE9C9"/>
                </a:solidFill>
                <a:latin typeface="Bernard MT Condensed"/>
              </a:rPr>
              <a:t>LAKH BAKSH — giver of lakhs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4055" y="549554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Lakh Baksh — gold flows from the throne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Slave market to throne: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sold as a child at Nishapur, educated by a qazi, bought by Ghori — rose to be his best general.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Conqueror of the north: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consolidated Delhi, Meerut, Ranthambore and Gujarat campaigns after Tarain (1192).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'Lakh Baksh'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the giver of lakhs — famous above all for open-handed generosity.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Builder: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began the Quwwat-ul-Islam mosque and Qutb Minar at Delhi; Adhai Din ka Jhonpra at Ajmer.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Sudden end (1210):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died in a fall while playing chaugan (polo) at Lahore. His short reign turned a general's command into a kingdom.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" dur="400" fill="hold"/>
                                        <p:tgtEl>
                                          <p:spTgt spid="9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09 0.427 E" pathEditMode="relative" ptsTypes="">
                                      <p:cBhvr>
                                        <p:cTn id="29" dur="1700" repeatCount="indefinite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0" presetClass="path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0.009 0.427 E" pathEditMode="relative" ptsTypes="">
                                      <p:cBhvr>
                                        <p:cTn id="33" dur="1880" repeatCount="indefinite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0" presetClass="path" presetSubtype="0" fill="hold" grpId="0" nodeType="after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0 0 L 0.009 0.427 E" pathEditMode="relative" ptsTypes="">
                                      <p:cBhvr>
                                        <p:cTn id="37" dur="2060" repeatCount="indefinite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0" presetClass="path" presetSubtype="0" fill="hold" grpId="0" nodeType="after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0.009 0.427 E" pathEditMode="relative" ptsTypes="">
                                      <p:cBhvr>
                                        <p:cTn id="41" dur="2240" repeatCount="indefinite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0" presetClass="path" presetSubtype="0" fill="hold" grpId="0" nodeType="afterEffect">
                                  <p:stCondLst>
                                    <p:cond delay="1200"/>
                                  </p:stCondLst>
                                  <p:childTnLst>
                                    <p:animMotion origin="layout" path="M 0 0 L 0.009 0.427 E" pathEditMode="relative" ptsTypes="">
                                      <p:cBhvr>
                                        <p:cTn id="45" dur="2420" repeatCount="indefinite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9" dur="900" autoRev="1" repeatCount="indefinite" fill="hold"/>
                                        <p:tgtEl>
                                          <p:spTgt spid="9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0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5" grpId="0"/>
      <p:bldP spid="10" grpId="0"/>
      <p:bldP spid="11" grpId="0"/>
      <p:bldP spid="12" grpId="0"/>
      <p:bldP spid="13" grpId="0"/>
      <p:bldP spid="14" grpId="0"/>
      <p:bldP spid="16" grpId="0"/>
      <p:bldP spid="17" grpId="0" build="p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8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ILTUTMISH (r. 1211–1236) – THE REAL FOUNDER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8625535" y="4550179"/>
            <a:ext cx="2926080" cy="93518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402775" y="2352501"/>
            <a:ext cx="1463040" cy="981940"/>
          </a:xfrm>
          <a:prstGeom prst="roundRect">
            <a:avLst/>
          </a:prstGeom>
          <a:solidFill>
            <a:srgbClr val="FFE9C9"/>
          </a:solidFill>
          <a:ln w="1905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80340D"/>
                </a:solidFill>
                <a:latin typeface="Bernard MT Condensed"/>
              </a:rPr>
              <a:t>robe of honour</a:t>
            </a:r>
          </a:p>
          <a:p>
            <a:pPr algn="ctr"/>
            <a:r>
              <a:rPr sz="1050" b="0">
                <a:solidFill>
                  <a:srgbClr val="261A10"/>
                </a:solidFill>
                <a:latin typeface="Times New Roman"/>
              </a:rPr>
              <a:t>from Baghdad</a:t>
            </a:r>
          </a:p>
          <a:p>
            <a:pPr algn="ctr"/>
            <a:r>
              <a:rPr sz="1050" b="1">
                <a:solidFill>
                  <a:srgbClr val="A8551E"/>
                </a:solidFill>
                <a:latin typeface="Times New Roman"/>
              </a:rPr>
              <a:t>1229</a:t>
            </a:r>
          </a:p>
        </p:txBody>
      </p:sp>
      <p:sp>
        <p:nvSpPr>
          <p:cNvPr id="8" name="Oval 7"/>
          <p:cNvSpPr/>
          <p:nvPr/>
        </p:nvSpPr>
        <p:spPr>
          <a:xfrm>
            <a:off x="10637215" y="3147406"/>
            <a:ext cx="457200" cy="467590"/>
          </a:xfrm>
          <a:prstGeom prst="ellipse">
            <a:avLst/>
          </a:prstGeom>
          <a:solidFill>
            <a:srgbClr val="261A10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5-Point Star 8"/>
          <p:cNvSpPr/>
          <p:nvPr/>
        </p:nvSpPr>
        <p:spPr>
          <a:xfrm>
            <a:off x="10746943" y="3259628"/>
            <a:ext cx="237744" cy="243147"/>
          </a:xfrm>
          <a:prstGeom prst="star5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71255" y="4316383"/>
            <a:ext cx="237744" cy="243147"/>
          </a:xfrm>
          <a:prstGeom prst="ellipse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28455" y="4316383"/>
            <a:ext cx="237744" cy="243147"/>
          </a:xfrm>
          <a:prstGeom prst="ellipse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85655" y="4316383"/>
            <a:ext cx="237744" cy="243147"/>
          </a:xfrm>
          <a:prstGeom prst="ellipse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45575" y="4924251"/>
            <a:ext cx="2286000" cy="467590"/>
          </a:xfrm>
          <a:prstGeom prst="round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0">
                <a:solidFill>
                  <a:srgbClr val="FFE9C9"/>
                </a:solidFill>
                <a:latin typeface="Bernard MT Condensed"/>
              </a:rPr>
              <a:t>a lawful sultanate at last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4055" y="558698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1229 — the Caliph’s robe arrives from Baghdad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Sold by his own brothers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out of jealousy — rose through sheer ability.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Defeated every rival: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Yildiz (1216), Qabacha (1228); recovered Ranthambore, Gwalior; brought Bengal back.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Caliph's investiture (1229):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Baghdad's recognition made the Sultanate a lawful state in the Islamic world.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Institution builder: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the Forty (Chahalgani), the iqta system, Delhi as permanent capital.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Currency reform: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silver tanka + copper jital — ancestors of the rupee.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Boldest decision: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nominated his daughter Razia as heir over his sons.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0.165 -0.04 L 0 0 E" pathEditMode="relative" ptsTypes="">
                                      <p:cBhvr>
                                        <p:cTn id="15" dur="1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3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350" fill="hold"/>
                                        <p:tgtEl>
                                          <p:spTgt spid="8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53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3" dur="300" fill="hold"/>
                                        <p:tgtEl>
                                          <p:spTgt spid="9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25 0 E" pathEditMode="relative" ptsTypes="">
                                      <p:cBhvr>
                                        <p:cTn id="30" dur="4200" repeatCount="indefinite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0" presetClass="path" presetSubtype="0" fill="hold" grpId="0" nodeType="after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0 0 L 0.225 0 E" pathEditMode="relative" ptsTypes="">
                                      <p:cBhvr>
                                        <p:cTn id="34" dur="4200" repeatCount="indefinite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0" presetClass="path" presetSubtype="0" fill="hold" grpId="0" nodeType="afterEffect">
                                  <p:stCondLst>
                                    <p:cond delay="1400"/>
                                  </p:stCondLst>
                                  <p:childTnLst>
                                    <p:animMotion origin="layout" path="M 0 0 L 0.225 0 E" pathEditMode="relative" ptsTypes="">
                                      <p:cBhvr>
                                        <p:cTn id="38" dur="4200" repeatCount="indefinite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3" grpId="0"/>
      <p:bldP spid="10" grpId="0"/>
      <p:bldP spid="11" grpId="0"/>
      <p:bldP spid="12" grpId="0"/>
      <p:bldP spid="14" grpId="0"/>
      <p:bldP spid="15" grpId="0" build="p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9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THE MONGOL STORM (1221)</a:t>
            </a:r>
          </a:p>
        </p:txBody>
      </p:sp>
      <p:sp>
        <p:nvSpPr>
          <p:cNvPr id="6" name="Rectangle 5"/>
          <p:cNvSpPr/>
          <p:nvPr/>
        </p:nvSpPr>
        <p:spPr>
          <a:xfrm>
            <a:off x="9920586" y="1730086"/>
            <a:ext cx="225726" cy="2770216"/>
          </a:xfrm>
          <a:prstGeom prst="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732481" y="4544983"/>
            <a:ext cx="611341" cy="321702"/>
          </a:xfrm>
          <a:prstGeom prst="roundRect">
            <a:avLst/>
          </a:prstGeom>
          <a:solidFill>
            <a:srgbClr val="3B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Times New Roman"/>
              </a:rPr>
              <a:t>INDUS</a:t>
            </a:r>
          </a:p>
        </p:txBody>
      </p:sp>
      <p:sp>
        <p:nvSpPr>
          <p:cNvPr id="8" name="Oval 7"/>
          <p:cNvSpPr/>
          <p:nvPr/>
        </p:nvSpPr>
        <p:spPr>
          <a:xfrm>
            <a:off x="8632066" y="2579023"/>
            <a:ext cx="583125" cy="446809"/>
          </a:xfrm>
          <a:prstGeom prst="ellipse">
            <a:avLst/>
          </a:prstGeom>
          <a:solidFill>
            <a:srgbClr val="261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027087" y="2891790"/>
            <a:ext cx="583125" cy="446809"/>
          </a:xfrm>
          <a:prstGeom prst="ellipse">
            <a:avLst/>
          </a:prstGeom>
          <a:solidFill>
            <a:srgbClr val="261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22108" y="2579023"/>
            <a:ext cx="583125" cy="446809"/>
          </a:xfrm>
          <a:prstGeom prst="ellipse">
            <a:avLst/>
          </a:prstGeom>
          <a:solidFill>
            <a:srgbClr val="261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79092" y="1908810"/>
            <a:ext cx="940525" cy="491490"/>
          </a:xfrm>
          <a:prstGeom prst="roundRect">
            <a:avLst/>
          </a:prstGeom>
          <a:solidFill>
            <a:srgbClr val="261A10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0">
                <a:solidFill>
                  <a:srgbClr val="FFE9C9"/>
                </a:solidFill>
                <a:latin typeface="Bernard MT Condensed"/>
              </a:rPr>
              <a:t>CHINGIZ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3117" y="2757747"/>
            <a:ext cx="940525" cy="670213"/>
          </a:xfrm>
          <a:prstGeom prst="roundRect">
            <a:avLst/>
          </a:prstGeom>
          <a:solidFill>
            <a:srgbClr val="80340D"/>
          </a:solidFill>
          <a:ln w="15875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0">
                <a:solidFill>
                  <a:srgbClr val="FFE9C9"/>
                </a:solidFill>
                <a:latin typeface="Bernard MT Condensed"/>
              </a:rPr>
              <a:t>DELHI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Times New Roman"/>
              </a:rPr>
              <a:t>refuses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38013" y="3740727"/>
            <a:ext cx="658368" cy="14297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261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8538013" y="4008812"/>
            <a:ext cx="658368" cy="14297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261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8538013" y="4276898"/>
            <a:ext cx="658368" cy="14297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261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2615" y="5404104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1221 — the horde waits across the Indus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1371600"/>
            <a:ext cx="74368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Chingiz Khan on the Indus: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after destroying Khwarazm, the Mongols chased prince Jalal-ud-din to India's doorstep.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The dilemma: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shelter the fugitive prince and invite Chingiz Khan in — or refuse and look cowardly?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Iltutmish's masterstroke: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he politely replied that Delhi's climate 'would not suit' the prince — and quietly moved troops.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Result: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Mongols withdrew; India escaped the fate of Merv, Nishapur and Baghdad.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One wrong step in 1221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and the thirty-year-old Sultanate might have ended there.</a:t>
            </a:r>
          </a:p>
        </p:txBody>
      </p:sp>
      <p:sp>
        <p:nvSpPr>
          <p:cNvPr id="18" name="Freeform 17"/>
          <p:cNvSpPr/>
          <p:nvPr/>
        </p:nvSpPr>
        <p:spPr>
          <a:xfrm>
            <a:off x="-1261872" y="5493152"/>
            <a:ext cx="998981" cy="752104"/>
          </a:xfrm>
          <a:custGeom>
            <a:avLst/>
            <a:gdLst/>
            <a:ahLst/>
            <a:cxnLst/>
            <a:rect l="l" t="t" r="r" b="b"/>
            <a:pathLst>
              <a:path w="998981" h="752104">
                <a:moveTo>
                  <a:pt x="920115" y="104945"/>
                </a:moveTo>
                <a:lnTo>
                  <a:pt x="998981" y="209889"/>
                </a:lnTo>
                <a:lnTo>
                  <a:pt x="893826" y="262362"/>
                </a:lnTo>
                <a:lnTo>
                  <a:pt x="806196" y="332325"/>
                </a:lnTo>
                <a:lnTo>
                  <a:pt x="850011" y="489742"/>
                </a:lnTo>
                <a:lnTo>
                  <a:pt x="876300" y="734613"/>
                </a:lnTo>
                <a:lnTo>
                  <a:pt x="814959" y="734613"/>
                </a:lnTo>
                <a:lnTo>
                  <a:pt x="771144" y="507233"/>
                </a:lnTo>
                <a:lnTo>
                  <a:pt x="543306" y="542215"/>
                </a:lnTo>
                <a:lnTo>
                  <a:pt x="499490" y="752104"/>
                </a:lnTo>
                <a:lnTo>
                  <a:pt x="438150" y="752104"/>
                </a:lnTo>
                <a:lnTo>
                  <a:pt x="455676" y="507233"/>
                </a:lnTo>
                <a:lnTo>
                  <a:pt x="280416" y="472251"/>
                </a:lnTo>
                <a:lnTo>
                  <a:pt x="262890" y="717123"/>
                </a:lnTo>
                <a:lnTo>
                  <a:pt x="201549" y="717123"/>
                </a:lnTo>
                <a:lnTo>
                  <a:pt x="219075" y="437270"/>
                </a:lnTo>
                <a:lnTo>
                  <a:pt x="52578" y="402288"/>
                </a:lnTo>
                <a:lnTo>
                  <a:pt x="0" y="244871"/>
                </a:lnTo>
                <a:lnTo>
                  <a:pt x="140208" y="314834"/>
                </a:lnTo>
                <a:lnTo>
                  <a:pt x="315468" y="279853"/>
                </a:lnTo>
                <a:lnTo>
                  <a:pt x="543306" y="262362"/>
                </a:lnTo>
                <a:lnTo>
                  <a:pt x="736092" y="122435"/>
                </a:lnTo>
                <a:lnTo>
                  <a:pt x="788670" y="0"/>
                </a:lnTo>
                <a:lnTo>
                  <a:pt x="841248" y="87454"/>
                </a:lnTo>
                <a:close/>
              </a:path>
            </a:pathLst>
          </a:custGeom>
          <a:solidFill>
            <a:srgbClr val="261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-1371600" y="5806440"/>
            <a:ext cx="1234440" cy="18288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-1371600" y="6053328"/>
            <a:ext cx="1234440" cy="18288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-1371600" y="6291072"/>
            <a:ext cx="1234440" cy="18288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1" dur="450" fill="hold"/>
                                        <p:tgtEl>
                                          <p:spTgt spid="12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41 0 L 0 0 E" pathEditMode="relative" ptsTypes="">
                                      <p:cBhvr>
                                        <p:cTn id="35" dur="5200" repeatCount="indefinite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6" presetID="0" presetClass="path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.041 0 L 0 0 E" pathEditMode="relative" ptsTypes="">
                                      <p:cBhvr>
                                        <p:cTn id="37" dur="5200" repeatCount="indefinite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" presetID="0" presetClass="path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 0 L 0.041 0 L 0 0 E" pathEditMode="relative" ptsTypes="">
                                      <p:cBhvr>
                                        <p:cTn id="39" dur="5200" repeatCount="indefinite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86 0 E" pathEditMode="relative" ptsTypes="">
                                      <p:cBhvr>
                                        <p:cTn id="43" dur="1600" repeatCount="indefinite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0" presetClass="path" presetSubtype="0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0 0 L 0.086 0 E" pathEditMode="relative" ptsTypes="">
                                      <p:cBhvr>
                                        <p:cTn id="47" dur="1850" repeatCount="indefinite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0" presetClass="path" presetSubtype="0" fill="hold" grpId="0" nodeType="after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0 0 L 0.086 0 E" pathEditMode="relative" ptsTypes="">
                                      <p:cBhvr>
                                        <p:cTn id="51" dur="2100" repeatCount="indefinite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0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5" dur="900" autoRev="1" repeatCount="indefinite" fill="hold"/>
                                        <p:tgtEl>
                                          <p:spTgt spid="12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0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0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 -0.015 L 0.2 0 L 0.3 -0.015 L 0.4 0 L 0.5 -0.015 L 0.6 0 L 0.7 -0.015 L 0.8 0 L 0.9 -0.015 L 1.0 0 L 1.18 0 E" pathEditMode="relative" ptsTypes="">
                                      <p:cBhvr>
                                        <p:cTn id="89" dur="5200" repeatCount="indefinite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0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1.3 0.012 E" pathEditMode="relative" ptsTypes="">
                                      <p:cBhvr>
                                        <p:cTn id="93" dur="2100" repeatCount="indefinite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0" presetClass="path" presetSubtype="0" fill="hold" grpId="0" nodeType="afterEffect">
                                  <p:stCondLst>
                                    <p:cond delay="450"/>
                                  </p:stCondLst>
                                  <p:childTnLst>
                                    <p:animMotion origin="layout" path="M 0 0 L 1.3 0.012 E" pathEditMode="relative" ptsTypes="">
                                      <p:cBhvr>
                                        <p:cTn id="97" dur="1700" repeatCount="indefinite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0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0" presetClass="path" presetSubtype="0" fill="hold" grpId="0" nodeType="afterEffect">
                                  <p:stCondLst>
                                    <p:cond delay="900"/>
                                  </p:stCondLst>
                                  <p:childTnLst>
                                    <p:animMotion origin="layout" path="M 0 0 L 1.3 0.012 E" pathEditMode="relative" ptsTypes="">
                                      <p:cBhvr>
                                        <p:cTn id="101" dur="1900" repeatCount="indefinite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11" grpId="0"/>
      <p:bldP spid="12" grpId="0"/>
      <p:bldP spid="8" grpId="0"/>
      <p:bldP spid="9" grpId="0"/>
      <p:bldP spid="10" grpId="0"/>
      <p:bldP spid="13" grpId="0"/>
      <p:bldP spid="14" grpId="0"/>
      <p:bldP spid="15" grpId="0"/>
      <p:bldP spid="16" grpId="0"/>
      <p:bldP spid="17" grpId="0" build="p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10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RAZIA SULTAN (r. 1236–1240)</a:t>
            </a:r>
          </a:p>
        </p:txBody>
      </p:sp>
      <p:sp>
        <p:nvSpPr>
          <p:cNvPr id="6" name="Rectangle 5"/>
          <p:cNvSpPr/>
          <p:nvPr/>
        </p:nvSpPr>
        <p:spPr>
          <a:xfrm>
            <a:off x="8625535" y="4503420"/>
            <a:ext cx="2926080" cy="84166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9859975" y="1744633"/>
            <a:ext cx="502920" cy="514350"/>
          </a:xfrm>
          <a:prstGeom prst="star5">
            <a:avLst/>
          </a:prstGeom>
          <a:solidFill>
            <a:srgbClr val="C88A3C"/>
          </a:solidFill>
          <a:ln w="15875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402775" y="3451188"/>
            <a:ext cx="1303020" cy="1003159"/>
          </a:xfrm>
          <a:custGeom>
            <a:avLst/>
            <a:gdLst/>
            <a:ahLst/>
            <a:cxnLst/>
            <a:rect l="l" t="t" r="r" b="b"/>
            <a:pathLst>
              <a:path w="1303020" h="1003159">
                <a:moveTo>
                  <a:pt x="1200150" y="139976"/>
                </a:moveTo>
                <a:lnTo>
                  <a:pt x="1303020" y="279952"/>
                </a:lnTo>
                <a:lnTo>
                  <a:pt x="1165860" y="349939"/>
                </a:lnTo>
                <a:lnTo>
                  <a:pt x="1051560" y="443256"/>
                </a:lnTo>
                <a:lnTo>
                  <a:pt x="1108710" y="653220"/>
                </a:lnTo>
                <a:lnTo>
                  <a:pt x="1143000" y="979830"/>
                </a:lnTo>
                <a:lnTo>
                  <a:pt x="1062990" y="979830"/>
                </a:lnTo>
                <a:lnTo>
                  <a:pt x="1005840" y="676549"/>
                </a:lnTo>
                <a:lnTo>
                  <a:pt x="708660" y="723208"/>
                </a:lnTo>
                <a:lnTo>
                  <a:pt x="651510" y="1003159"/>
                </a:lnTo>
                <a:lnTo>
                  <a:pt x="571500" y="1003159"/>
                </a:lnTo>
                <a:lnTo>
                  <a:pt x="594360" y="676549"/>
                </a:lnTo>
                <a:lnTo>
                  <a:pt x="365760" y="629891"/>
                </a:lnTo>
                <a:lnTo>
                  <a:pt x="342900" y="956500"/>
                </a:lnTo>
                <a:lnTo>
                  <a:pt x="262890" y="956500"/>
                </a:lnTo>
                <a:lnTo>
                  <a:pt x="285750" y="583232"/>
                </a:lnTo>
                <a:lnTo>
                  <a:pt x="68580" y="536573"/>
                </a:lnTo>
                <a:lnTo>
                  <a:pt x="0" y="326610"/>
                </a:lnTo>
                <a:lnTo>
                  <a:pt x="182880" y="419927"/>
                </a:lnTo>
                <a:lnTo>
                  <a:pt x="411480" y="373269"/>
                </a:lnTo>
                <a:lnTo>
                  <a:pt x="708660" y="349939"/>
                </a:lnTo>
                <a:lnTo>
                  <a:pt x="960120" y="163305"/>
                </a:lnTo>
                <a:lnTo>
                  <a:pt x="1028700" y="0"/>
                </a:lnTo>
                <a:lnTo>
                  <a:pt x="1097280" y="116647"/>
                </a:lnTo>
                <a:close/>
              </a:path>
            </a:pathLst>
          </a:cu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969703" y="2932314"/>
            <a:ext cx="384048" cy="579812"/>
          </a:xfrm>
          <a:prstGeom prst="roundRect">
            <a:avLst/>
          </a:prstGeom>
          <a:solidFill>
            <a:srgbClr val="2E6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24567" y="2614352"/>
            <a:ext cx="292608" cy="299258"/>
          </a:xfrm>
          <a:prstGeom prst="ellipse">
            <a:avLst/>
          </a:prstGeom>
          <a:solidFill>
            <a:srgbClr val="C89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Triangle 10"/>
          <p:cNvSpPr/>
          <p:nvPr/>
        </p:nvSpPr>
        <p:spPr>
          <a:xfrm>
            <a:off x="10189159" y="2305742"/>
            <a:ext cx="384048" cy="374072"/>
          </a:xfrm>
          <a:prstGeom prst="rtTriangle">
            <a:avLst/>
          </a:prstGeom>
          <a:solidFill>
            <a:srgbClr val="2E6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899855" y="4830733"/>
            <a:ext cx="2377440" cy="514350"/>
          </a:xfrm>
          <a:prstGeom prst="round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0">
                <a:solidFill>
                  <a:srgbClr val="FFE9C9"/>
                </a:solidFill>
                <a:latin typeface="Bernard MT Condensed"/>
              </a:rPr>
              <a:t>a Sultan, not a Sultana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4055" y="558698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A Sultan, not a Sultana — leading from the front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First and only woman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to rule from the throne of Delhi — crowned after Delhi's citizens rose against Ruknuddin Firuz.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Ruled as a king: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abandoned purdah, wore tunic and cap, led armies in person, used the title 'Sultan'.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Minhaj's verdict: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every kingly quality 'except her sex' — one line that explains her whole struggle.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Merit over birth: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promoted able outsiders like the Abyssinian Yaqut — enraging the Turkish Forty.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fall (1240):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betrayed, imprisoned, married the rebel Altunia, marched on Delhi — killed near Kaithal.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She fell not for ruling badly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— but for ruling too independently.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4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20 0 L 0.195 -0.008 L 0.255 0 E" pathEditMode="relative" ptsTypes="">
                                      <p:cBhvr>
                                        <p:cTn id="23" dur="5200" repeatCount="indefinite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20 0 L 0.195 -0.008 L 0.255 0 E" pathEditMode="relative" ptsTypes="">
                                      <p:cBhvr>
                                        <p:cTn id="25" dur="5200" repeatCount="indefinite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20 0 L 0.195 -0.008 L 0.255 0 E" pathEditMode="relative" ptsTypes="">
                                      <p:cBhvr>
                                        <p:cTn id="27" dur="5200" repeatCount="indefinite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0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20 0 L 0.195 -0.008 L 0.255 0 E" pathEditMode="relative" ptsTypes="">
                                      <p:cBhvr>
                                        <p:cTn id="29" dur="5200" repeatCount="indefinite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3" dur="900" autoRev="1" repeatCount="indefinite" fill="hold"/>
                                        <p:tgtEl>
                                          <p:spTgt spid="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12" grpId="0"/>
      <p:bldP spid="8" grpId="0"/>
      <p:bldP spid="9" grpId="0"/>
      <p:bldP spid="10" grpId="0"/>
      <p:bldP spid="11" grpId="0"/>
      <p:bldP spid="13" grpId="0"/>
      <p:bldP spid="14" grpId="0" build="p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11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THE PUPPET YEARS (1240–1266)</a:t>
            </a:r>
          </a:p>
        </p:txBody>
      </p:sp>
      <p:sp>
        <p:nvSpPr>
          <p:cNvPr id="6" name="Rectangle 5"/>
          <p:cNvSpPr/>
          <p:nvPr/>
        </p:nvSpPr>
        <p:spPr>
          <a:xfrm>
            <a:off x="8991295" y="1874520"/>
            <a:ext cx="2194560" cy="201167"/>
          </a:xfrm>
          <a:prstGeom prst="rect">
            <a:avLst/>
          </a:prstGeom>
          <a:solidFill>
            <a:srgbClr val="261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448495" y="1463040"/>
            <a:ext cx="1280160" cy="384047"/>
          </a:xfrm>
          <a:prstGeom prst="roundRect">
            <a:avLst/>
          </a:prstGeom>
          <a:solidFill>
            <a:srgbClr val="261A10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50" b="0">
                <a:solidFill>
                  <a:srgbClr val="FFE9C9"/>
                </a:solidFill>
                <a:latin typeface="Bernard MT Condensed"/>
              </a:rPr>
              <a:t>THE FORTY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494215.0" y="2075688.0"/>
            <a:ext cx="365760.0" cy="1078992.0"/>
          </a:xfrm>
          <a:prstGeom prst="line">
            <a:avLst/>
          </a:prstGeom>
          <a:ln w="1587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0317175.0" y="2075688.0"/>
            <a:ext cx="365760.0" cy="1078992.0"/>
          </a:xfrm>
          <a:prstGeom prst="line">
            <a:avLst/>
          </a:prstGeom>
          <a:ln w="15875">
            <a:solidFill>
              <a:srgbClr val="7F7F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677095" y="3154680"/>
            <a:ext cx="868680" cy="1142999"/>
          </a:xfrm>
          <a:prstGeom prst="roundRect">
            <a:avLst/>
          </a:prstGeom>
          <a:solidFill>
            <a:srgbClr val="A8551E"/>
          </a:solidFill>
          <a:ln w="15875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0">
                <a:solidFill>
                  <a:srgbClr val="FFE9C9"/>
                </a:solidFill>
                <a:latin typeface="Bernard MT Condensed"/>
              </a:rPr>
              <a:t>PUPPET</a:t>
            </a:r>
          </a:p>
          <a:p>
            <a:pPr algn="ctr"/>
            <a:r>
              <a:rPr sz="1200" b="0">
                <a:solidFill>
                  <a:srgbClr val="FFE9C9"/>
                </a:solidFill>
                <a:latin typeface="Bernard MT Condensed"/>
              </a:rPr>
              <a:t>SULTAN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Times New Roman"/>
              </a:rPr>
              <a:t>Bahram • Masud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45575" y="4709160"/>
            <a:ext cx="2286000" cy="457199"/>
          </a:xfrm>
          <a:prstGeom prst="round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0">
                <a:solidFill>
                  <a:srgbClr val="FFE9C9"/>
                </a:solidFill>
                <a:latin typeface="Bernard MT Condensed"/>
              </a:rPr>
              <a:t>crowned, controlled, cut loose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4055" y="549554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A throne surrounded by whispers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King-makers unleashed: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Forty crowned, controlled and destroyed Bahram Shah (1240–42) and Masud Shah (1242–46).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The cost of chaos: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Mongols sacked Lahore in 1241 — and Delhi could do nothing.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Nasiruddin Mahmud (1246–66):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gentle and pious — wisely left the real work of government to his deputy, Balban.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 historian's gift: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Minhaj-us-Siraj dedicated his Tabaqat-i-Nasiri to this sultan — our most important source.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1266: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Mahmud died without a son; the deputy finally took the crown himself.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45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22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0.12 L 0 0 E" pathEditMode="relative" ptsTypes="">
                                      <p:cBhvr>
                                        <p:cTn id="25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17 0.013 L 0 0.021 L -0.017 0.013 L 0 0 E" pathEditMode="relative" ptsTypes="">
                                      <p:cBhvr>
                                        <p:cTn id="32" dur="3000" repeatCount="indefinite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 build="p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12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BALBAN (r. 1266–1287) – BLOOD AND IRON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74175" y="2913610"/>
            <a:ext cx="777240" cy="1870363"/>
          </a:xfrm>
          <a:prstGeom prst="rect">
            <a:avLst/>
          </a:prstGeom>
          <a:solidFill>
            <a:srgbClr val="80340D"/>
          </a:solidFill>
          <a:ln w="15875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0">
                <a:solidFill>
                  <a:srgbClr val="FFE9C9"/>
                </a:solidFill>
                <a:latin typeface="Bernard MT Condensed"/>
              </a:rPr>
              <a:t>THEATRE</a:t>
            </a:r>
          </a:p>
          <a:p>
            <a:pPr algn="ctr"/>
            <a:r>
              <a:rPr sz="1050" b="0">
                <a:solidFill>
                  <a:srgbClr val="FFE9C9"/>
                </a:solidFill>
                <a:latin typeface="Bernard MT Condensed"/>
              </a:rPr>
              <a:t>OF MAJESTY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Times New Roman"/>
              </a:rPr>
              <a:t>sijda • paibos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25735" y="2913610"/>
            <a:ext cx="777240" cy="1870363"/>
          </a:xfrm>
          <a:prstGeom prst="rect">
            <a:avLst/>
          </a:prstGeom>
          <a:solidFill>
            <a:srgbClr val="A8551E"/>
          </a:solidFill>
          <a:ln w="15875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0">
                <a:solidFill>
                  <a:srgbClr val="FFE9C9"/>
                </a:solidFill>
                <a:latin typeface="Bernard MT Condensed"/>
              </a:rPr>
              <a:t>BLOOD</a:t>
            </a:r>
          </a:p>
          <a:p>
            <a:pPr algn="ctr"/>
            <a:r>
              <a:rPr sz="1050" b="0">
                <a:solidFill>
                  <a:srgbClr val="FFE9C9"/>
                </a:solidFill>
                <a:latin typeface="Bernard MT Condensed"/>
              </a:rPr>
              <a:t>AND IRON</a:t>
            </a:r>
          </a:p>
          <a:p>
            <a:pPr algn="ctr"/>
            <a:r>
              <a:rPr sz="850" b="0">
                <a:solidFill>
                  <a:srgbClr val="FFFFFF"/>
                </a:solidFill>
                <a:latin typeface="Times New Roman"/>
              </a:rPr>
              <a:t>barid spies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45575" y="2212224"/>
            <a:ext cx="2286000" cy="579812"/>
          </a:xfrm>
          <a:prstGeom prst="roundRect">
            <a:avLst/>
          </a:prstGeom>
          <a:solidFill>
            <a:srgbClr val="C88A3C"/>
          </a:solidFill>
          <a:ln w="1905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50" b="1">
                <a:solidFill>
                  <a:srgbClr val="261A10"/>
                </a:solidFill>
                <a:latin typeface="Bernard MT Condensed"/>
              </a:rPr>
              <a:t>ZIL-E-ILAHI — Shadow of God</a:t>
            </a:r>
          </a:p>
        </p:txBody>
      </p:sp>
      <p:sp>
        <p:nvSpPr>
          <p:cNvPr id="9" name="Rectangle 8"/>
          <p:cNvSpPr/>
          <p:nvPr/>
        </p:nvSpPr>
        <p:spPr>
          <a:xfrm>
            <a:off x="8945575" y="4783974"/>
            <a:ext cx="2286000" cy="149629"/>
          </a:xfrm>
          <a:prstGeom prst="rect">
            <a:avLst/>
          </a:prstGeom>
          <a:solidFill>
            <a:srgbClr val="261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14055" y="558698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A court where no one dared to laugh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Water-carrier to 'Shadow of God':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declared the Sultan Zil-e-Ilahi; court modelled on the Persian emperors.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Theatre of majesty: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sijda and paibos, Nauroz pomp, drawn swords — no laughter in open court.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Blood and iron: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cleared the Mewati bandits, crushed doab rebels, pacified Katehar — roads safe again.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Broke the Forty: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old comrades sidelined, poisoned or executed; barid spies in every province.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Bengal (1279):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marched there at nearly eighty; an example so harsh Bengal stayed quiet for a generation.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price: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his heir Prince Muhammad fell to the Mongols (1285); Balban died broken in 1287.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0.16 L 0 0 E" pathEditMode="relative" ptsTypes="">
                                      <p:cBhvr>
                                        <p:cTn id="21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0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5" dur="900" autoRev="1" repeatCount="indefinite" fill="hold"/>
                                        <p:tgtEl>
                                          <p:spTgt spid="8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 build="p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13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FALL OF THE DYNASTY (1287–1290)</a:t>
            </a:r>
          </a:p>
        </p:txBody>
      </p:sp>
      <p:sp>
        <p:nvSpPr>
          <p:cNvPr id="6" name="Freeform 5"/>
          <p:cNvSpPr/>
          <p:nvPr/>
        </p:nvSpPr>
        <p:spPr>
          <a:xfrm rot="2700000">
            <a:off x="10229769" y="2180371"/>
            <a:ext cx="320040" cy="2774731"/>
          </a:xfrm>
          <a:custGeom>
            <a:avLst/>
            <a:gdLst/>
            <a:ahLst/>
            <a:cxnLst/>
            <a:rect l="l" t="t" r="r" b="b"/>
            <a:pathLst>
              <a:path w="320040" h="2774731">
                <a:moveTo>
                  <a:pt x="160020" y="0"/>
                </a:moveTo>
                <a:lnTo>
                  <a:pt x="202692" y="361293"/>
                </a:lnTo>
                <a:lnTo>
                  <a:pt x="202692" y="1950982"/>
                </a:lnTo>
                <a:lnTo>
                  <a:pt x="320040" y="1994337"/>
                </a:lnTo>
                <a:lnTo>
                  <a:pt x="320040" y="2109951"/>
                </a:lnTo>
                <a:lnTo>
                  <a:pt x="213360" y="2109951"/>
                </a:lnTo>
                <a:lnTo>
                  <a:pt x="213360" y="2543503"/>
                </a:lnTo>
                <a:lnTo>
                  <a:pt x="256032" y="2659117"/>
                </a:lnTo>
                <a:lnTo>
                  <a:pt x="160020" y="2774731"/>
                </a:lnTo>
                <a:lnTo>
                  <a:pt x="64008" y="2659117"/>
                </a:lnTo>
                <a:lnTo>
                  <a:pt x="106680" y="2543503"/>
                </a:lnTo>
                <a:lnTo>
                  <a:pt x="106680" y="2109951"/>
                </a:lnTo>
                <a:lnTo>
                  <a:pt x="0" y="2109951"/>
                </a:lnTo>
                <a:lnTo>
                  <a:pt x="0" y="1994337"/>
                </a:lnTo>
                <a:lnTo>
                  <a:pt x="117348" y="1950982"/>
                </a:lnTo>
                <a:lnTo>
                  <a:pt x="117348" y="361293"/>
                </a:lnTo>
                <a:close/>
              </a:path>
            </a:pathLst>
          </a:custGeom>
          <a:solidFill>
            <a:srgbClr val="CDC9BE"/>
          </a:solidFill>
          <a:ln w="1270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 rot="18900000">
            <a:off x="9617927" y="2180371"/>
            <a:ext cx="320040" cy="2774731"/>
          </a:xfrm>
          <a:custGeom>
            <a:avLst/>
            <a:gdLst/>
            <a:ahLst/>
            <a:cxnLst/>
            <a:rect l="l" t="t" r="r" b="b"/>
            <a:pathLst>
              <a:path w="320040" h="2774731">
                <a:moveTo>
                  <a:pt x="160020" y="0"/>
                </a:moveTo>
                <a:lnTo>
                  <a:pt x="117348" y="361293"/>
                </a:lnTo>
                <a:lnTo>
                  <a:pt x="117348" y="1950982"/>
                </a:lnTo>
                <a:lnTo>
                  <a:pt x="0" y="1994337"/>
                </a:lnTo>
                <a:lnTo>
                  <a:pt x="0" y="2109951"/>
                </a:lnTo>
                <a:lnTo>
                  <a:pt x="106680" y="2109951"/>
                </a:lnTo>
                <a:lnTo>
                  <a:pt x="106680" y="2543503"/>
                </a:lnTo>
                <a:lnTo>
                  <a:pt x="64008" y="2659117"/>
                </a:lnTo>
                <a:lnTo>
                  <a:pt x="160020" y="2774731"/>
                </a:lnTo>
                <a:lnTo>
                  <a:pt x="256032" y="2659117"/>
                </a:lnTo>
                <a:lnTo>
                  <a:pt x="213360" y="2543503"/>
                </a:lnTo>
                <a:lnTo>
                  <a:pt x="213360" y="2109951"/>
                </a:lnTo>
                <a:lnTo>
                  <a:pt x="320040" y="2109951"/>
                </a:lnTo>
                <a:lnTo>
                  <a:pt x="320040" y="1994337"/>
                </a:lnTo>
                <a:lnTo>
                  <a:pt x="202692" y="1950982"/>
                </a:lnTo>
                <a:lnTo>
                  <a:pt x="202692" y="361293"/>
                </a:lnTo>
                <a:close/>
              </a:path>
            </a:pathLst>
          </a:custGeom>
          <a:solidFill>
            <a:srgbClr val="CDC9BE"/>
          </a:solidFill>
          <a:ln w="1270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8-Point Star 7"/>
          <p:cNvSpPr/>
          <p:nvPr/>
        </p:nvSpPr>
        <p:spPr>
          <a:xfrm>
            <a:off x="9730883" y="2804685"/>
            <a:ext cx="705970" cy="1040524"/>
          </a:xfrm>
          <a:prstGeom prst="star8">
            <a:avLst/>
          </a:prstGeom>
          <a:solidFill>
            <a:srgbClr val="C88A3C"/>
          </a:solidFill>
          <a:ln w="15875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88375" y="4955102"/>
            <a:ext cx="3200400" cy="4855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7F7F7F"/>
                </a:solidFill>
                <a:latin typeface="Times New Roman"/>
              </a:rPr>
              <a:t>1290 — the Khalji swords fall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4055" y="5495544"/>
            <a:ext cx="3749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1290 — the Khalji swords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71600"/>
            <a:ext cx="752825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Dynasties rarely survive their strongmen: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nobles ignored Balban's chosen heir and crowned teenage Kaiqubad.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Three wasted years: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freed from suffocating discipline, Kaiqubad sank into pleasure — administration collapsed.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Rise of the Khaljis: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old Turkish party lost ground to veteran commander Jalal-ud-din Khalji.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1290 – Khalji Revolution: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paralysed Kaiqubad was killed at Kilokhri; Jalal-ud-din took the throne.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More than a family change: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Turkish slave elite's monopoly broke forever — the dynasty fell to the very principle that had raised it: power belongs to the capable.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.14 0.12 L 0 0 E" pathEditMode="relative" ptsTypes="">
                                      <p:cBhvr>
                                        <p:cTn id="12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1500000">
                                      <p:cBhvr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-0.14 0.12 L 0 0 E" pathEditMode="relative" ptsTypes="">
                                      <p:cBhvr>
                                        <p:cTn id="16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  <p:animRot by="-1500000">
                                      <p:cBhvr>
                                        <p:cTn id="17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300" fill="hold"/>
                                        <p:tgtEl>
                                          <p:spTgt spid="8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8" dur="700" autoRev="1" repeatCount="indefinite" fill="hold"/>
                                        <p:tgtEl>
                                          <p:spTgt spid="8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 build="p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14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ADMINISTRATION</a:t>
            </a:r>
          </a:p>
        </p:txBody>
      </p:sp>
      <p:sp>
        <p:nvSpPr>
          <p:cNvPr id="6" name="Oval 5"/>
          <p:cNvSpPr/>
          <p:nvPr/>
        </p:nvSpPr>
        <p:spPr>
          <a:xfrm>
            <a:off x="9448495" y="1828800"/>
            <a:ext cx="1828800" cy="1828800"/>
          </a:xfrm>
          <a:prstGeom prst="ellipse">
            <a:avLst/>
          </a:prstGeom>
          <a:solidFill>
            <a:srgbClr val="CDC9BE"/>
          </a:solidFill>
          <a:ln w="317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2000" b="1">
                <a:solidFill>
                  <a:srgbClr val="261A10"/>
                </a:solidFill>
                <a:latin typeface="Bernard MT Condensed"/>
              </a:rPr>
              <a:t>tanka</a:t>
            </a:r>
          </a:p>
          <a:p>
            <a:pPr algn="ctr"/>
            <a:r>
              <a:rPr sz="1050" b="0">
                <a:solidFill>
                  <a:srgbClr val="80340D"/>
                </a:solidFill>
                <a:latin typeface="Times New Roman"/>
              </a:rPr>
              <a:t>silver • Iltutmish</a:t>
            </a:r>
          </a:p>
        </p:txBody>
      </p:sp>
      <p:sp>
        <p:nvSpPr>
          <p:cNvPr id="7" name="Oval 6"/>
          <p:cNvSpPr/>
          <p:nvPr/>
        </p:nvSpPr>
        <p:spPr>
          <a:xfrm>
            <a:off x="9695383" y="2075688"/>
            <a:ext cx="1335024" cy="1335024"/>
          </a:xfrm>
          <a:prstGeom prst="ellipse">
            <a:avLst/>
          </a:prstGeom>
          <a:noFill/>
          <a:ln w="15875">
            <a:solidFill>
              <a:srgbClr val="A855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1440000">
            <a:off x="9219895" y="1691640"/>
            <a:ext cx="256032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357055" y="3794760"/>
            <a:ext cx="2011680" cy="384048"/>
          </a:xfrm>
          <a:prstGeom prst="round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0">
                <a:solidFill>
                  <a:srgbClr val="FFE9C9"/>
                </a:solidFill>
                <a:latin typeface="Bernard MT Condensed"/>
              </a:rPr>
              <a:t>ancestor of the rupee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2695" y="412394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Silver tanka of Iltutmish — ancestor of the rupee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71600"/>
            <a:ext cx="80768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Sultan: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absolute in theory — military power + Islamic legitimacy + (after Balban) a semi-divine aura.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Great ministries: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diwan-i-wizarat (finance), ariz-i-mamalik (army), diwan-i-insha (correspondence), qazi (justice).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iqta system: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officers (muqtis) got a territory's land revenue instead of salary — troops, order, surplus to Delhi.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Transferable, not hereditary: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strong sultans shuffled muqtis so no officer could grow local roots.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Army &amp; intelligence: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heavy cavalry and war elephants; Balban paid the central army directly; barids everywhere.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Everyday India carried on: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village life, caste society, customary law — taxed but rarely touched.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55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80 0 E" pathEditMode="relative" ptsTypes="">
                                      <p:cBhvr>
                                        <p:cTn id="23" dur="2600" repeatCount="indefinite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 build="p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15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ART AND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9055303" y="5177790"/>
            <a:ext cx="2340864" cy="97674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9703220" y="4396393"/>
            <a:ext cx="1045028" cy="781396"/>
          </a:xfrm>
          <a:prstGeom prst="round2SameRect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950" b="1">
                <a:solidFill>
                  <a:srgbClr val="FFE9C9"/>
                </a:solidFill>
                <a:latin typeface="Times New Roman"/>
              </a:rPr>
              <a:t>1199</a:t>
            </a:r>
          </a:p>
        </p:txBody>
      </p:sp>
      <p:sp>
        <p:nvSpPr>
          <p:cNvPr id="8" name="Round Same Side Corner Rectangle 7"/>
          <p:cNvSpPr/>
          <p:nvPr/>
        </p:nvSpPr>
        <p:spPr>
          <a:xfrm>
            <a:off x="9786823" y="3693136"/>
            <a:ext cx="877824" cy="703256"/>
          </a:xfrm>
          <a:prstGeom prst="round2SameRect">
            <a:avLst/>
          </a:prstGeom>
          <a:solidFill>
            <a:srgbClr val="A8551E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 Same Side Corner Rectangle 8"/>
          <p:cNvSpPr/>
          <p:nvPr/>
        </p:nvSpPr>
        <p:spPr>
          <a:xfrm>
            <a:off x="9866245" y="3068019"/>
            <a:ext cx="718979" cy="625117"/>
          </a:xfrm>
          <a:prstGeom prst="round2SameRect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9941487" y="2540577"/>
            <a:ext cx="568495" cy="527442"/>
          </a:xfrm>
          <a:prstGeom prst="round2SameRect">
            <a:avLst/>
          </a:prstGeom>
          <a:solidFill>
            <a:srgbClr val="A8551E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950" b="1">
                <a:solidFill>
                  <a:srgbClr val="FFE9C9"/>
                </a:solidFill>
                <a:latin typeface="Times New Roman"/>
              </a:rPr>
              <a:t>1220</a:t>
            </a:r>
          </a:p>
        </p:txBody>
      </p:sp>
      <p:sp>
        <p:nvSpPr>
          <p:cNvPr id="11" name="Round Same Side Corner Rectangle 10"/>
          <p:cNvSpPr/>
          <p:nvPr/>
        </p:nvSpPr>
        <p:spPr>
          <a:xfrm>
            <a:off x="10008369" y="2091274"/>
            <a:ext cx="434731" cy="449302"/>
          </a:xfrm>
          <a:prstGeom prst="round2SameRect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08691" y="1837320"/>
            <a:ext cx="234086" cy="253953"/>
          </a:xfrm>
          <a:prstGeom prst="ellipse">
            <a:avLst/>
          </a:prstGeom>
          <a:solidFill>
            <a:srgbClr val="C88A3C"/>
          </a:solidFill>
          <a:ln w="1270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222507" y="1612669"/>
            <a:ext cx="2006454" cy="488372"/>
          </a:xfrm>
          <a:prstGeom prst="round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0">
                <a:solidFill>
                  <a:srgbClr val="FFE9C9"/>
                </a:solidFill>
                <a:latin typeface="Bernard MT Condensed"/>
              </a:rPr>
              <a:t>QUTB MINAR — 72.5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8375" y="576986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The tower still rises over Delhi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371600"/>
            <a:ext cx="780257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Quwwat-ul-Islam mosque: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Delhi's first great mosque — built on carved temple pillars; two artistic worlds merging.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Qutb Minar: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begun by Aibak, completed by Iltutmish — 72.5 m, world's tallest brick minaret.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Tombs: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Iltutmish's carved tomb; Sultan Ghari — earliest Islamic tomb in India.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Balban's tomb: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one of India's first true arches — pointing toward the Mughal domes to come.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4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4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4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0" fill="hold" grpId="0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4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0" fill="hold" grpId="0" nodeType="withEffect">
                                  <p:stCondLst>
                                    <p:cond delay="27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3" dur="350" fill="hold"/>
                                        <p:tgtEl>
                                          <p:spTgt spid="12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0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/>
      <p:bldP spid="9" grpId="0"/>
      <p:bldP spid="10" grpId="0"/>
      <p:bldP spid="11" grpId="0"/>
      <p:bldP spid="6" grpId="0"/>
      <p:bldP spid="12" grpId="0"/>
      <p:bldP spid="13" grpId="0"/>
      <p:bldP spid="14" grpId="0"/>
      <p:bldP spid="15" grpId="0" build="p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16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LEGACY AND SIGNIFICANCE</a:t>
            </a:r>
          </a:p>
        </p:txBody>
      </p:sp>
      <p:sp>
        <p:nvSpPr>
          <p:cNvPr id="6" name="Oval 5"/>
          <p:cNvSpPr/>
          <p:nvPr/>
        </p:nvSpPr>
        <p:spPr>
          <a:xfrm>
            <a:off x="9490296" y="1744633"/>
            <a:ext cx="1379437" cy="935181"/>
          </a:xfrm>
          <a:prstGeom prst="ellipse">
            <a:avLst/>
          </a:prstGeom>
          <a:solidFill>
            <a:srgbClr val="261A10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0">
                <a:solidFill>
                  <a:srgbClr val="FFE9C9"/>
                </a:solidFill>
                <a:latin typeface="Bernard MT Condensed"/>
              </a:rPr>
              <a:t>1206–1290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Times New Roman"/>
              </a:rPr>
              <a:t>WHAT THEY LEFT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5436" y="2932314"/>
            <a:ext cx="2069156" cy="392776"/>
          </a:xfrm>
          <a:prstGeom prst="round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Times New Roman"/>
              </a:rPr>
              <a:t>DELHI as capital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5436" y="3399905"/>
            <a:ext cx="2069156" cy="392776"/>
          </a:xfrm>
          <a:prstGeom prst="roundRect">
            <a:avLst/>
          </a:prstGeom>
          <a:solidFill>
            <a:srgbClr val="A85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Times New Roman"/>
              </a:rPr>
              <a:t>IQTA + ministries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5436" y="3867496"/>
            <a:ext cx="2069156" cy="392776"/>
          </a:xfrm>
          <a:prstGeom prst="round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Times New Roman"/>
              </a:rPr>
              <a:t>TANKA currency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5436" y="4335087"/>
            <a:ext cx="2069156" cy="392776"/>
          </a:xfrm>
          <a:prstGeom prst="roundRect">
            <a:avLst/>
          </a:prstGeom>
          <a:solidFill>
            <a:srgbClr val="A85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Times New Roman"/>
              </a:rPr>
              <a:t>Mongols kept 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5436" y="4802678"/>
            <a:ext cx="2069156" cy="392776"/>
          </a:xfrm>
          <a:prstGeom prst="round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Times New Roman"/>
              </a:rPr>
              <a:t>Indo-Islamic culture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5436" y="5270269"/>
            <a:ext cx="2069156" cy="392776"/>
          </a:xfrm>
          <a:prstGeom prst="roundRect">
            <a:avLst/>
          </a:prstGeom>
          <a:solidFill>
            <a:srgbClr val="2E6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Times New Roman"/>
              </a:rPr>
              <a:t>a throne EARNED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6935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What they built still stands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371600"/>
            <a:ext cx="77111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Political: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made Delhi the imperial centre of India — a status it has never really lost.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Administrative: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iqta, ministries, barid network, standing army — scaffolding for Khaljis, Tughlaqs, even Mughals.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Economic: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the tanka–jital currency anchored north Indian commerce for generations.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Strategic: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its defence of the north-west kept the Mongol catastrophe out of India.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Cultural: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Amir Khusrau's poetry, the Chishti saints, and the start of the Indo-Islamic synthesis.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A radical idea: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 slave could become sultan; a woman could rule — the throne of Delhi could be earned.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45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0" fill="hold" grpId="0" nodeType="after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0.06 L 0 0 E" pathEditMode="relative" ptsTypes="">
                                      <p:cBhvr>
                                        <p:cTn id="18" dur="3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2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0.06 L 0 0 E" pathEditMode="relative" ptsTypes="">
                                      <p:cBhvr>
                                        <p:cTn id="21" dur="3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2" presetID="2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0.06 L 0 0 E" pathEditMode="relative" ptsTypes="">
                                      <p:cBhvr>
                                        <p:cTn id="24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2" presetClass="entr" presetSubtype="0" fill="hold" grpId="0" nodeType="withEffect">
                                  <p:stCondLst>
                                    <p:cond delay="119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0.06 L 0 0 E" pathEditMode="relative" ptsTypes="">
                                      <p:cBhvr>
                                        <p:cTn id="27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8" presetID="2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0.06 L 0 0 E" pathEditMode="relative" ptsTypes="">
                                      <p:cBhvr>
                                        <p:cTn id="30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" presetID="2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-0.06 L 0 0 E" pathEditMode="relative" ptsTypes="">
                                      <p:cBhvr>
                                        <p:cTn id="33" dur="3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" dur="900" autoRev="1" repeatCount="indefinite" fill="hold"/>
                                        <p:tgtEl>
                                          <p:spTgt spid="6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 build="p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17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372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An empire founded by men who had once been merchandise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the strangest arc in medieval Indian history.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Aibak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turned a conqueror's garrisons into a kingdom.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Iltutmish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gave it law, money and legitimacy — and saved it from Chingiz Khan with one evasive letter.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Razia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showed how far ability could carry a person; her fate showed where the limits lay.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Balban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rebuilt the crown's majesty with ceremony and cruelty — and held the frontier at the cost of his son.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Eighty-four years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an improvised occupation became a settled state with a capital, a currency and a culture. The dynasties that followed built higher, but on this foundation.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63721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 u="sng">
                <a:solidFill>
                  <a:srgbClr val="80340D"/>
                </a:solidFill>
                <a:latin typeface="Bernard MT Condensed"/>
              </a:rPr>
              <a:t>THANK YOU</a:t>
            </a:r>
          </a:p>
        </p:txBody>
      </p:sp>
      <p:sp>
        <p:nvSpPr>
          <p:cNvPr id="8" name="Freeform 7"/>
          <p:cNvSpPr/>
          <p:nvPr/>
        </p:nvSpPr>
        <p:spPr>
          <a:xfrm>
            <a:off x="-1481328" y="4725038"/>
            <a:ext cx="1172718" cy="882905"/>
          </a:xfrm>
          <a:custGeom>
            <a:avLst/>
            <a:gdLst/>
            <a:ahLst/>
            <a:cxnLst/>
            <a:rect l="l" t="t" r="r" b="b"/>
            <a:pathLst>
              <a:path w="1172718" h="882905">
                <a:moveTo>
                  <a:pt x="1080135" y="123196"/>
                </a:moveTo>
                <a:lnTo>
                  <a:pt x="1172718" y="246392"/>
                </a:lnTo>
                <a:lnTo>
                  <a:pt x="1049274" y="307990"/>
                </a:lnTo>
                <a:lnTo>
                  <a:pt x="946404" y="390121"/>
                </a:lnTo>
                <a:lnTo>
                  <a:pt x="997839" y="574915"/>
                </a:lnTo>
                <a:lnTo>
                  <a:pt x="1028700" y="862372"/>
                </a:lnTo>
                <a:lnTo>
                  <a:pt x="956691" y="862372"/>
                </a:lnTo>
                <a:lnTo>
                  <a:pt x="905256" y="595448"/>
                </a:lnTo>
                <a:lnTo>
                  <a:pt x="637794" y="636513"/>
                </a:lnTo>
                <a:lnTo>
                  <a:pt x="586359" y="882905"/>
                </a:lnTo>
                <a:lnTo>
                  <a:pt x="514350" y="882905"/>
                </a:lnTo>
                <a:lnTo>
                  <a:pt x="534924" y="595448"/>
                </a:lnTo>
                <a:lnTo>
                  <a:pt x="329184" y="554382"/>
                </a:lnTo>
                <a:lnTo>
                  <a:pt x="308610" y="841840"/>
                </a:lnTo>
                <a:lnTo>
                  <a:pt x="236601" y="841840"/>
                </a:lnTo>
                <a:lnTo>
                  <a:pt x="257175" y="513317"/>
                </a:lnTo>
                <a:lnTo>
                  <a:pt x="61722" y="472251"/>
                </a:lnTo>
                <a:lnTo>
                  <a:pt x="0" y="287457"/>
                </a:lnTo>
                <a:lnTo>
                  <a:pt x="164592" y="369588"/>
                </a:lnTo>
                <a:lnTo>
                  <a:pt x="370332" y="328523"/>
                </a:lnTo>
                <a:lnTo>
                  <a:pt x="637794" y="307990"/>
                </a:lnTo>
                <a:lnTo>
                  <a:pt x="864108" y="143728"/>
                </a:lnTo>
                <a:lnTo>
                  <a:pt x="925830" y="0"/>
                </a:lnTo>
                <a:lnTo>
                  <a:pt x="987552" y="102663"/>
                </a:lnTo>
                <a:close/>
              </a:path>
            </a:pathLst>
          </a:custGeom>
          <a:solidFill>
            <a:srgbClr val="261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7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7" dur="800" autoRev="1" repeatCount="3000" fill="hold"/>
                                        <p:tgtEl>
                                          <p:spTgt spid="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0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0" presetClass="pat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1 -0.015 L 0.2 0 L 0.3 -0.015 L 0.4 0 L 0.5 -0.015 L 0.6 0 L 0.7 -0.015 L 0.8 0 L 0.9 -0.015 L 1.0 0 L 1.18 0 E" pathEditMode="relative" ptsTypes="">
                                      <p:cBhvr>
                                        <p:cTn id="51" dur="6000" repeatCount="indefinite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18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THANK YOU, MATES!</a:t>
            </a:r>
          </a:p>
        </p:txBody>
      </p:sp>
      <p:sp>
        <p:nvSpPr>
          <p:cNvPr id="6" name="Oval 5"/>
          <p:cNvSpPr/>
          <p:nvPr/>
        </p:nvSpPr>
        <p:spPr>
          <a:xfrm>
            <a:off x="5257800" y="1801368"/>
            <a:ext cx="566928" cy="566928"/>
          </a:xfrm>
          <a:prstGeom prst="ellipse">
            <a:avLst/>
          </a:prstGeom>
          <a:solidFill>
            <a:srgbClr val="9C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373368" y="1801368"/>
            <a:ext cx="566928" cy="566928"/>
          </a:xfrm>
          <a:prstGeom prst="ellipse">
            <a:avLst/>
          </a:prstGeom>
          <a:solidFill>
            <a:srgbClr val="9C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385816" y="1929384"/>
            <a:ext cx="310896" cy="310896"/>
          </a:xfrm>
          <a:prstGeom prst="ellipse">
            <a:avLst/>
          </a:prstGeom>
          <a:solidFill>
            <a:srgbClr val="D9B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01384" y="1929384"/>
            <a:ext cx="310896" cy="310896"/>
          </a:xfrm>
          <a:prstGeom prst="ellipse">
            <a:avLst/>
          </a:prstGeom>
          <a:solidFill>
            <a:srgbClr val="D9B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349240" y="2011680"/>
            <a:ext cx="1499616" cy="1298448"/>
          </a:xfrm>
          <a:prstGeom prst="ellipse">
            <a:avLst/>
          </a:prstGeom>
          <a:solidFill>
            <a:srgbClr val="9C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751576" y="2596896"/>
            <a:ext cx="694944" cy="566928"/>
          </a:xfrm>
          <a:prstGeom prst="ellipse">
            <a:avLst/>
          </a:prstGeom>
          <a:solidFill>
            <a:srgbClr val="D9B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89320" y="2670048"/>
            <a:ext cx="219456" cy="164592"/>
          </a:xfrm>
          <a:prstGeom prst="ellipse">
            <a:avLst/>
          </a:prstGeom>
          <a:solidFill>
            <a:srgbClr val="261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696712" y="2359152"/>
            <a:ext cx="146304" cy="164592"/>
          </a:xfrm>
          <a:prstGeom prst="ellipse">
            <a:avLst/>
          </a:prstGeom>
          <a:solidFill>
            <a:srgbClr val="261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55080" y="2359152"/>
            <a:ext cx="146304" cy="164592"/>
          </a:xfrm>
          <a:prstGeom prst="ellipse">
            <a:avLst/>
          </a:prstGeom>
          <a:solidFill>
            <a:srgbClr val="261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49240" y="3291840"/>
            <a:ext cx="1499616" cy="1572768"/>
          </a:xfrm>
          <a:prstGeom prst="roundRect">
            <a:avLst/>
          </a:prstGeom>
          <a:solidFill>
            <a:srgbClr val="9C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60136" y="3584448"/>
            <a:ext cx="877824" cy="960120"/>
          </a:xfrm>
          <a:prstGeom prst="ellipse">
            <a:avLst/>
          </a:prstGeom>
          <a:solidFill>
            <a:srgbClr val="D9B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 rot="1080000">
            <a:off x="4892040" y="3447288"/>
            <a:ext cx="566928" cy="1051560"/>
          </a:xfrm>
          <a:prstGeom prst="roundRect">
            <a:avLst/>
          </a:prstGeom>
          <a:solidFill>
            <a:srgbClr val="9C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 rot="19320000">
            <a:off x="6739128" y="3264408"/>
            <a:ext cx="566928" cy="1051560"/>
          </a:xfrm>
          <a:prstGeom prst="roundRect">
            <a:avLst/>
          </a:prstGeom>
          <a:solidFill>
            <a:srgbClr val="9C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 rot="720000">
            <a:off x="5349240" y="4754880"/>
            <a:ext cx="658368" cy="548640"/>
          </a:xfrm>
          <a:prstGeom prst="ellipse">
            <a:avLst/>
          </a:prstGeom>
          <a:solidFill>
            <a:srgbClr val="9C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20880000">
            <a:off x="6190488" y="4754880"/>
            <a:ext cx="658368" cy="548640"/>
          </a:xfrm>
          <a:prstGeom prst="ellipse">
            <a:avLst/>
          </a:prstGeom>
          <a:solidFill>
            <a:srgbClr val="9C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Heart 20"/>
          <p:cNvSpPr/>
          <p:nvPr/>
        </p:nvSpPr>
        <p:spPr>
          <a:xfrm>
            <a:off x="7059168" y="2258568"/>
            <a:ext cx="566928" cy="530352"/>
          </a:xfrm>
          <a:prstGeom prst="heart">
            <a:avLst/>
          </a:prstGeom>
          <a:solidFill>
            <a:srgbClr val="A855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15968" y="1389888"/>
            <a:ext cx="1371600" cy="566928"/>
          </a:xfrm>
          <a:prstGeom prst="roundRect">
            <a:avLst/>
          </a:prstGeom>
          <a:solidFill>
            <a:srgbClr val="FFE9C9"/>
          </a:solidFill>
          <a:ln w="19050">
            <a:solidFill>
              <a:srgbClr val="80340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80340D"/>
                </a:solidFill>
                <a:latin typeface="Bernard MT Condensed"/>
              </a:rPr>
              <a:t>thank you</a:t>
            </a:r>
          </a:p>
          <a:p>
            <a:pPr algn="ctr"/>
            <a:r>
              <a:rPr sz="1300" b="1">
                <a:solidFill>
                  <a:srgbClr val="80340D"/>
                </a:solidFill>
                <a:latin typeface="Bernard MT Condensed"/>
              </a:rPr>
              <a:t>mates!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4488" y="6153912"/>
            <a:ext cx="4389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7F7F7F"/>
                </a:solidFill>
                <a:latin typeface="Times New Roman"/>
              </a:rPr>
              <a:t>That's the story of the Slave Dynasty — thank you mates!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6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6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6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6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6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6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6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6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6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6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6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0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8" presetClass="emph" presetSubtype="0" fill="hold" grpId="0" nodeType="afterEffect">
                                  <p:stCondLst>
                                    <p:cond delay="1600"/>
                                  </p:stCondLst>
                                  <p:childTnLst>
                                    <p:animRot by="2760000">
                                      <p:cBhvr>
                                        <p:cTn id="64" dur="800" repeatCount="indefinite" autoRev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0" presetClass="path" presetSubtype="0" fill="hold" grpId="0" nodeType="after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 -0.016 L 0 0 E" pathEditMode="relative" ptsTypes="">
                                      <p:cBhvr>
                                        <p:cTn id="68" dur="1100" repeatCount="indefinite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9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 -0.016 L 0 0 E" pathEditMode="relative" ptsTypes="">
                                      <p:cBhvr>
                                        <p:cTn id="70" dur="1100" repeatCount="indefinite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1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 -0.016 L 0 0 E" pathEditMode="relative" ptsTypes="">
                                      <p:cBhvr>
                                        <p:cTn id="72" dur="1100" repeatCount="indefinite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3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 -0.016 L 0 0 E" pathEditMode="relative" ptsTypes="">
                                      <p:cBhvr>
                                        <p:cTn id="74" dur="1100" repeatCount="indefinite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5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 -0.016 L 0 0 E" pathEditMode="relative" ptsTypes="">
                                      <p:cBhvr>
                                        <p:cTn id="76" dur="1100" repeatCount="indefinite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7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 -0.016 L 0 0 E" pathEditMode="relative" ptsTypes="">
                                      <p:cBhvr>
                                        <p:cTn id="78" dur="1100" repeatCount="indefinite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9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 -0.016 L 0 0 E" pathEditMode="relative" ptsTypes="">
                                      <p:cBhvr>
                                        <p:cTn id="80" dur="1100" repeatCount="indefinite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1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 -0.016 L 0 0 E" pathEditMode="relative" ptsTypes="">
                                      <p:cBhvr>
                                        <p:cTn id="82" dur="1100" repeatCount="indefinite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3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 -0.016 L 0 0 E" pathEditMode="relative" ptsTypes="">
                                      <p:cBhvr>
                                        <p:cTn id="84" dur="1100" repeatCount="indefinite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5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 -0.016 L 0 0 E" pathEditMode="relative" ptsTypes="">
                                      <p:cBhvr>
                                        <p:cTn id="86" dur="1100" repeatCount="indefinite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87" presetID="0" presetClass="path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animMotion origin="layout" path="M 0 0 L 0 -0.016 L 0 0 E" pathEditMode="relative" ptsTypes="">
                                      <p:cBhvr>
                                        <p:cTn id="88" dur="1100" repeatCount="indefinite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0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26" presetClass="emph" presetSubtype="0" fill="hold" grpId="0" nodeType="afterEffect">
                                  <p:stCondLst>
                                    <p:cond delay="1600"/>
                                  </p:stCondLst>
                                  <p:childTnLst>
                                    <p:animScale>
                                      <p:cBhvr>
                                        <p:cTn id="92" dur="800" autoRev="1" repeatCount="indefinite" fill="hold"/>
                                        <p:tgtEl>
                                          <p:spTgt spid="21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9" grpId="0"/>
      <p:bldP spid="20" grpId="0"/>
      <p:bldP spid="15" grpId="0"/>
      <p:bldP spid="16" grpId="0"/>
      <p:bldP spid="17" grpId="0"/>
      <p:bldP spid="18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21" grpId="0"/>
      <p:bldP spid="22" grpId="0"/>
      <p:bldP spid="2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