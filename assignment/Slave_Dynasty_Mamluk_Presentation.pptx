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gi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 u="sng">
                <a:solidFill>
                  <a:srgbClr val="261A10"/>
                </a:solidFill>
                <a:latin typeface="Bernard MT Condensed"/>
              </a:rPr>
              <a:t>LOVELY PROFESSIONAL UNIVERSITY</a:t>
            </a:r>
          </a:p>
          <a:p>
            <a:pPr algn="ctr">
              <a:spcBef>
                <a:spcPts val="600"/>
              </a:spcBef>
            </a:pPr>
            <a:r>
              <a:rPr sz="2600" b="0" i="0" u="sng">
                <a:solidFill>
                  <a:srgbClr val="261A10"/>
                </a:solidFill>
                <a:latin typeface="Bernard MT Condensed"/>
              </a:rPr>
              <a:t>SCHOOL OF LAW</a:t>
            </a:r>
          </a:p>
        </p:txBody>
      </p:sp>
      <p:pic>
        <p:nvPicPr>
          <p:cNvPr id="5" name="Picture 4" descr="lpu_s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1783080"/>
            <a:ext cx="1554480" cy="1571555"/>
          </a:xfrm>
          <a:prstGeom prst="rect">
            <a:avLst/>
          </a:prstGeom>
        </p:spPr>
      </p:pic>
      <p:pic>
        <p:nvPicPr>
          <p:cNvPr id="6" name="Picture 5" descr="qutb_minar.jpg"/>
          <p:cNvPicPr>
            <a:picLocks noChangeAspect="1"/>
          </p:cNvPicPr>
          <p:nvPr/>
        </p:nvPicPr>
        <p:blipFill>
          <a:blip r:embed="rId3"/>
          <a:srcRect l="16667" r="16667"/>
          <a:stretch>
            <a:fillRect/>
          </a:stretch>
        </p:blipFill>
        <p:spPr>
          <a:xfrm>
            <a:off x="502920" y="1920240"/>
            <a:ext cx="1554480" cy="3108960"/>
          </a:xfrm>
          <a:prstGeom prst="rect">
            <a:avLst/>
          </a:prstGeom>
          <a:ln w="25400">
            <a:solidFill>
              <a:srgbClr val="C88A3C"/>
            </a:solidFill>
          </a:ln>
        </p:spPr>
      </p:pic>
      <p:pic>
        <p:nvPicPr>
          <p:cNvPr id="7" name="Picture 6" descr="mamluk_cavalry.jpg"/>
          <p:cNvPicPr>
            <a:picLocks noChangeAspect="1"/>
          </p:cNvPicPr>
          <p:nvPr/>
        </p:nvPicPr>
        <p:blipFill>
          <a:blip r:embed="rId4"/>
          <a:srcRect l="12500" r="12500"/>
          <a:stretch>
            <a:fillRect/>
          </a:stretch>
        </p:blipFill>
        <p:spPr>
          <a:xfrm>
            <a:off x="10134295" y="1920240"/>
            <a:ext cx="1554480" cy="3108960"/>
          </a:xfrm>
          <a:prstGeom prst="rect">
            <a:avLst/>
          </a:prstGeom>
          <a:ln w="25400">
            <a:solidFill>
              <a:srgbClr val="C88A3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194560" y="3520440"/>
            <a:ext cx="78025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0340D"/>
                </a:solidFill>
                <a:latin typeface="Bernard MT Condensed"/>
              </a:rPr>
              <a:t>CA – 01 HISTORY (SSC231)</a:t>
            </a:r>
          </a:p>
          <a:p>
            <a:pPr algn="ctr">
              <a:spcBef>
                <a:spcPts val="400"/>
              </a:spcBef>
            </a:pPr>
            <a:r>
              <a:rPr sz="3400" b="0" i="0" u="sng">
                <a:solidFill>
                  <a:srgbClr val="80340D"/>
                </a:solidFill>
                <a:latin typeface="Bernard MT Condensed"/>
              </a:rPr>
              <a:t>SLAVE DYNASTY (MAMLUK DYNASTY)</a:t>
            </a:r>
          </a:p>
          <a:p>
            <a:pPr algn="ctr">
              <a:spcBef>
                <a:spcPts val="400"/>
              </a:spcBef>
            </a:pPr>
            <a:r>
              <a:rPr sz="1600" b="0" i="1">
                <a:solidFill>
                  <a:srgbClr val="261A10"/>
                </a:solidFill>
                <a:latin typeface="Times New Roman"/>
              </a:rPr>
              <a:t>Delhi Sultanate • 1206 – 1290 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512064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261A10"/>
                </a:solidFill>
                <a:latin typeface="Bernard MT Condensed"/>
              </a:rPr>
              <a:t>Submitted by :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Sangam Sitapuri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Reg. no. – RK202406B65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Course – SSC231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512064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261A10"/>
                </a:solidFill>
                <a:latin typeface="Bernard MT Condensed"/>
              </a:rPr>
              <a:t>Submitted to :</a:t>
            </a:r>
          </a:p>
          <a:p>
            <a:pPr>
              <a:spcBef>
                <a:spcPts val="200"/>
              </a:spcBef>
            </a:pPr>
            <a:r>
              <a:rPr sz="1400" b="1" i="0" u="sng">
                <a:solidFill>
                  <a:srgbClr val="261A10"/>
                </a:solidFill>
                <a:latin typeface="Times New Roman"/>
              </a:rPr>
              <a:t>Dr. Vandana Arya</a:t>
            </a:r>
          </a:p>
        </p:txBody>
      </p:sp>
      <p:pic>
        <p:nvPicPr>
          <p:cNvPr id="11" name="Picture 10" descr="hor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700784" y="5577840"/>
            <a:ext cx="1417320" cy="109621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700" fill="hold"/>
                                        <p:tgtEl>
                                          <p:spTgt spid="5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600" fill="hold"/>
                                        <p:tgtEl>
                                          <p:spTgt spid="8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37" dur="7000" repeatCount="indefinite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9" grpId="0"/>
      <p:bldP spid="10" grpId="0"/>
      <p:bldP spid="5" grpId="0"/>
      <p:bldP spid="6" grpId="0"/>
      <p:bldP spid="7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2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0C3512"/>
                </a:solidFill>
                <a:latin typeface="Bernard MT Condensed"/>
              </a:rPr>
              <a:t>TABLE OF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01.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Introduction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02.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Timeline at a Glance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03.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Who Were the Mamluks?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04.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1206 – Birth of the Sultanate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05.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Qutb-ud-din Aibak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06.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Iltutmish – The Real Founder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07.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Mongol Storm (1221)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08.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Razia Sultan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09.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Puppet Years (1240–66)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10.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Balban – Blood and Iron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11.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Fall of the Dynasty (1290)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12.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Administration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13.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Art and Architecture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14.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Legacy and Significance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15.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Conclusion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3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INTRODUCTION</a:t>
            </a:r>
          </a:p>
        </p:txBody>
      </p:sp>
      <p:pic>
        <p:nvPicPr>
          <p:cNvPr id="6" name="Picture 5" descr="intro.gif"/>
          <p:cNvPicPr>
            <a:picLocks noChangeAspect="1"/>
          </p:cNvPicPr>
          <p:nvPr/>
        </p:nvPicPr>
        <p:blipFill>
          <a:blip r:embed="rId2"/>
          <a:srcRect l="284" r="284"/>
          <a:stretch>
            <a:fillRect/>
          </a:stretch>
        </p:blipFill>
        <p:spPr>
          <a:xfrm>
            <a:off x="8488375" y="1417320"/>
            <a:ext cx="3200400" cy="40233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From chains to crowns — the story begins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Rulers of Delhi, 1206–1290 CE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— the first dynasty of the Delhi Sultanate, founded after Muhammad Ghori's death.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'Mamluk'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is Arabic for 'one who is owned'. Every sultan of this line was a former slave or a slave's descendant.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Nobody ruled as a slave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— each ruler was legally freed (manumitted) before taking the throne.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Really three families: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houses of Aibak, Iltutmish and Balban, one after another.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Why it matters: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it laid the foundation of the Delhi Sultanate — Delhi as capital, the tanka coin, the iqta system, the Qutb Minar — shaping north India for 300 years.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-0.018 -0.01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4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TIMELINE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657600"/>
            <a:ext cx="10545775" cy="54864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9759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1206–10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Qutb-ud-din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Aibak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Founder,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'Lakh Baksh'</a:t>
            </a:r>
          </a:p>
        </p:txBody>
      </p:sp>
      <p:sp>
        <p:nvSpPr>
          <p:cNvPr id="8" name="Oval 7"/>
          <p:cNvSpPr/>
          <p:nvPr/>
        </p:nvSpPr>
        <p:spPr>
          <a:xfrm>
            <a:off x="1468983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37663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1210–11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Aram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Shah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Weak interlude</a:t>
            </a:r>
          </a:p>
        </p:txBody>
      </p:sp>
      <p:sp>
        <p:nvSpPr>
          <p:cNvPr id="10" name="Oval 9"/>
          <p:cNvSpPr/>
          <p:nvPr/>
        </p:nvSpPr>
        <p:spPr>
          <a:xfrm>
            <a:off x="2986887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55567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1211–36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Iltutmish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Real founder,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tanka, Caliph</a:t>
            </a:r>
          </a:p>
        </p:txBody>
      </p:sp>
      <p:sp>
        <p:nvSpPr>
          <p:cNvPr id="12" name="Oval 11"/>
          <p:cNvSpPr/>
          <p:nvPr/>
        </p:nvSpPr>
        <p:spPr>
          <a:xfrm>
            <a:off x="4504791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73471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1236–40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Razia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Sultan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Only woman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on the throne</a:t>
            </a:r>
          </a:p>
        </p:txBody>
      </p:sp>
      <p:sp>
        <p:nvSpPr>
          <p:cNvPr id="14" name="Oval 13"/>
          <p:cNvSpPr/>
          <p:nvPr/>
        </p:nvSpPr>
        <p:spPr>
          <a:xfrm>
            <a:off x="6022695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91375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1240–66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Puppet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Sultans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Rule of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'The Forty'</a:t>
            </a:r>
          </a:p>
        </p:txBody>
      </p:sp>
      <p:sp>
        <p:nvSpPr>
          <p:cNvPr id="16" name="Oval 15"/>
          <p:cNvSpPr/>
          <p:nvPr/>
        </p:nvSpPr>
        <p:spPr>
          <a:xfrm>
            <a:off x="7540599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09279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1266–87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Balban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Blood &amp; iron,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Zil-e-Ilahi</a:t>
            </a:r>
          </a:p>
        </p:txBody>
      </p:sp>
      <p:sp>
        <p:nvSpPr>
          <p:cNvPr id="18" name="Oval 17"/>
          <p:cNvSpPr/>
          <p:nvPr/>
        </p:nvSpPr>
        <p:spPr>
          <a:xfrm>
            <a:off x="9058503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7183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1287–90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Kaiqubad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&amp; fall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Khalji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Revolution</a:t>
            </a:r>
          </a:p>
        </p:txBody>
      </p:sp>
      <p:sp>
        <p:nvSpPr>
          <p:cNvPr id="20" name="Oval 19"/>
          <p:cNvSpPr/>
          <p:nvPr/>
        </p:nvSpPr>
        <p:spPr>
          <a:xfrm>
            <a:off x="10576407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ho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61872" y="2907792"/>
            <a:ext cx="1051560" cy="81332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35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350" fill="hold"/>
                                        <p:tgtEl>
                                          <p:spTgt spid="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350" fill="hold"/>
                                        <p:tgtEl>
                                          <p:spTgt spid="11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350" fill="hold"/>
                                        <p:tgtEl>
                                          <p:spTgt spid="13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350" fill="hold"/>
                                        <p:tgtEl>
                                          <p:spTgt spid="15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0" fill="hold" grpId="0" nodeType="withEffect">
                                  <p:stCondLst>
                                    <p:cond delay="18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350" fill="hold"/>
                                        <p:tgtEl>
                                          <p:spTgt spid="1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grpId="0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350" fill="hold"/>
                                        <p:tgtEl>
                                          <p:spTgt spid="1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67" dur="5500" repeatCount="indefinite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5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WHO WERE THE MAMLUKS?</a:t>
            </a:r>
          </a:p>
        </p:txBody>
      </p:sp>
      <p:pic>
        <p:nvPicPr>
          <p:cNvPr id="6" name="Picture 5" descr="market.gif"/>
          <p:cNvPicPr>
            <a:picLocks noChangeAspect="1"/>
          </p:cNvPicPr>
          <p:nvPr/>
        </p:nvPicPr>
        <p:blipFill>
          <a:blip r:embed="rId2"/>
          <a:srcRect l="284" r="284"/>
          <a:stretch>
            <a:fillRect/>
          </a:stretch>
        </p:blipFill>
        <p:spPr>
          <a:xfrm>
            <a:off x="8488375" y="1417320"/>
            <a:ext cx="3200400" cy="40233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A boy is bought in Bukhara… a sultan is made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Elite military slaves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(bandagan) — Turkic boys bought in Central Asian markets, trained in war, horsemanship and court manners.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Loyalty by design: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cut off from family and clan, a slave soldier had nobody except his master.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Promotion purely on merit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a talented slave could rise to general, governor… and eventually king.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Not plantation slavery: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they ate well, commanded armies, married into noble families — apprenticeship plus bonded loyalty.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Ghori's 'sons':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asked about having no heir, Ghori said his thousands of Turkish slaves would carry his name — and they did.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0.016 -0.009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6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1206 – BIRTH OF THE SULTANATE</a:t>
            </a:r>
          </a:p>
        </p:txBody>
      </p:sp>
      <p:pic>
        <p:nvPicPr>
          <p:cNvPr id="6" name="Picture 5" descr="ghori.gif"/>
          <p:cNvPicPr>
            <a:picLocks noChangeAspect="1"/>
          </p:cNvPicPr>
          <p:nvPr/>
        </p:nvPicPr>
        <p:blipFill>
          <a:blip r:embed="rId2"/>
          <a:srcRect l="284" r="284"/>
          <a:stretch>
            <a:fillRect/>
          </a:stretch>
        </p:blipFill>
        <p:spPr>
          <a:xfrm>
            <a:off x="8488375" y="1417320"/>
            <a:ext cx="3200400" cy="40233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Damyak, March 1206 — daggers in the night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March 1206: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Muhammad Ghori assassinated at Damyak on the Indus — no son, only ambitious slave generals.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Three rivals: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Yildiz at Ghazni, Qabacha at Multan-Uch, Qutb-ud-din Aibak holding the Indian territories.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Aibak moved fastest: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invited by the nobles and citizens of Lahore, he took charge of Hindustan within months.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Legitimacy mattered: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he used modest titles (Malik, Sipahsalar) until formally freed and recognised (c. 1208).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result: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an independent Indian kingdom owing nothing to Ghazni — the Delhi Sultanate begins here.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-0.014 0.01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7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QUTB-UD-DIN AIBAK (r. 1206–1210)</a:t>
            </a:r>
          </a:p>
        </p:txBody>
      </p:sp>
      <p:pic>
        <p:nvPicPr>
          <p:cNvPr id="6" name="Picture 5" descr="aibak.gif"/>
          <p:cNvPicPr>
            <a:picLocks noChangeAspect="1"/>
          </p:cNvPicPr>
          <p:nvPr/>
        </p:nvPicPr>
        <p:blipFill>
          <a:blip r:embed="rId2"/>
          <a:srcRect l="284" r="284"/>
          <a:stretch>
            <a:fillRect/>
          </a:stretch>
        </p:blipFill>
        <p:spPr>
          <a:xfrm>
            <a:off x="8488375" y="1417320"/>
            <a:ext cx="3200400" cy="40233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Lakh Baksh — gold flows from the throne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Slave market to throne: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sold as a child at Nishapur, educated by a qazi, bought by Ghori — rose to be his best general.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Conqueror of the north: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consolidated Delhi, Meerut, Ranthambore and Gujarat campaigns after Tarain (1192).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'Lakh Baksh'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the giver of lakhs — famous above all for open-handed generosity.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Builder: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began the Quwwat-ul-Islam mosque and Qutb Minar at Delhi; Adhai Din ka Jhonpra at Ajmer.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Sudden end (1210):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died in a fall while playing chaugan (polo) at Lahore. His short reign turned a general's command into a kingdom.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0.018 0.008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8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ILTUTMISH (r. 1211–1236) – THE REAL FOUNDER</a:t>
            </a:r>
          </a:p>
        </p:txBody>
      </p:sp>
      <p:pic>
        <p:nvPicPr>
          <p:cNvPr id="6" name="Picture 5" descr="iltutmish.gif"/>
          <p:cNvPicPr>
            <a:picLocks noChangeAspect="1"/>
          </p:cNvPicPr>
          <p:nvPr/>
        </p:nvPicPr>
        <p:blipFill>
          <a:blip r:embed="rId2"/>
          <a:srcRect l="1389" r="1389"/>
          <a:stretch>
            <a:fillRect/>
          </a:stretch>
        </p:blipFill>
        <p:spPr>
          <a:xfrm>
            <a:off x="8488375" y="1417320"/>
            <a:ext cx="3200400" cy="411480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58698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1229 — the Caliph’s robe arrives from Baghdad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Sold by his own brothers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out of jealousy — rose through sheer ability.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Defeated every rival: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Yildiz (1216), Qabacha (1228); recovered Ranthambore, Gwalior; brought Bengal back.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Caliph's investiture (1229):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Baghdad's recognition made the Sultanate a lawful state in the Islamic world.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Institution builder: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the Forty (Chahalgani), the iqta system, Delhi as permanent capital.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Currency reform: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silver tanka + copper jital — ancestors of the rupee.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Boldest decision: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nominated his daughter Razia as heir over his sons.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-0.018 -0.01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9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THE MONGOL STORM (1221)</a:t>
            </a:r>
          </a:p>
        </p:txBody>
      </p:sp>
      <p:pic>
        <p:nvPicPr>
          <p:cNvPr id="6" name="Picture 5" descr="mongol.gif"/>
          <p:cNvPicPr>
            <a:picLocks noChangeAspect="1"/>
          </p:cNvPicPr>
          <p:nvPr/>
        </p:nvPicPr>
        <p:blipFill>
          <a:blip r:embed="rId2"/>
          <a:srcRect t="2222" b="2222"/>
          <a:stretch>
            <a:fillRect/>
          </a:stretch>
        </p:blipFill>
        <p:spPr>
          <a:xfrm>
            <a:off x="8396935" y="1417320"/>
            <a:ext cx="3291840" cy="393192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122615" y="5404104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1221 — the horde waits across the Indus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4368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Chingiz Khan on the Indus: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after destroying Khwarazm, the Mongols chased prince Jalal-ud-din to India's doorstep.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dilemma: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shelter the fugitive prince and invite Chingiz Khan in — or refuse and look cowardly?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Iltutmish's masterstroke: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he politely replied that Delhi's climate 'would not suit' the prince — and quietly moved troops.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Result: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Mongols withdrew; India escaped the fate of Merv, Nishapur and Baghdad.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One wrong step in 1221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and the thirty-year-old Sultanate might have ended there.</a:t>
            </a:r>
          </a:p>
        </p:txBody>
      </p:sp>
      <p:pic>
        <p:nvPicPr>
          <p:cNvPr id="9" name="Picture 8" descr="ho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3975" y="4535918"/>
            <a:ext cx="914400" cy="707237"/>
          </a:xfrm>
          <a:prstGeom prst="rect">
            <a:avLst/>
          </a:prstGeom>
        </p:spPr>
      </p:pic>
      <p:pic>
        <p:nvPicPr>
          <p:cNvPr id="10" name="Picture 9" descr="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71600" y="5806440"/>
            <a:ext cx="1234440" cy="182880"/>
          </a:xfrm>
          <a:prstGeom prst="rect">
            <a:avLst/>
          </a:prstGeom>
        </p:spPr>
      </p:pic>
      <p:pic>
        <p:nvPicPr>
          <p:cNvPr id="11" name="Picture 10" descr="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71600" y="6053328"/>
            <a:ext cx="1234440" cy="182880"/>
          </a:xfrm>
          <a:prstGeom prst="rect">
            <a:avLst/>
          </a:prstGeom>
        </p:spPr>
      </p:pic>
      <p:pic>
        <p:nvPicPr>
          <p:cNvPr id="12" name="Picture 11" descr="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71600" y="6291072"/>
            <a:ext cx="1234440" cy="1828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0.016 -0.009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60 -0.005 E" pathEditMode="relative" ptsTypes="">
                                      <p:cBhvr>
                                        <p:cTn id="49" dur="3600" repeatCount="indefinite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53" dur="2100" repeatCount="indefinite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0" presetClass="path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57" dur="1700" repeatCount="indefinite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grpId="0" nodeType="after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61" dur="1900" repeatCount="indefinite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10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RAZIA SULTAN (r. 1236–1240)</a:t>
            </a:r>
          </a:p>
        </p:txBody>
      </p:sp>
      <p:pic>
        <p:nvPicPr>
          <p:cNvPr id="6" name="Picture 5" descr="razia.gif"/>
          <p:cNvPicPr>
            <a:picLocks noChangeAspect="1"/>
          </p:cNvPicPr>
          <p:nvPr/>
        </p:nvPicPr>
        <p:blipFill>
          <a:blip r:embed="rId2"/>
          <a:srcRect l="1389" r="1389"/>
          <a:stretch>
            <a:fillRect/>
          </a:stretch>
        </p:blipFill>
        <p:spPr>
          <a:xfrm>
            <a:off x="8488375" y="1417320"/>
            <a:ext cx="3200400" cy="411480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58698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A Sultan, not a Sultana — leading from the front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First and only woman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to rule from the throne of Delhi — crowned after Delhi's citizens rose against Ruknuddin Firuz.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Ruled as a king: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abandoned purdah, wore tunic and cap, led armies in person, used the title 'Sultan'.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Minhaj's verdict: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every kingly quality 'except her sex' — one line that explains her whole struggle.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Merit over birth: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promoted able outsiders like the Abyssinian Yaqut — enraging the Turkish Forty.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fall (1240):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betrayed, imprisoned, married the rebel Altunia, marched on Delhi — killed near Kaithal.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She fell not for ruling badly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— but for ruling too independently.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-0.014 0.01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11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THE PUPPET YEARS (1240–1266)</a:t>
            </a:r>
          </a:p>
        </p:txBody>
      </p:sp>
      <p:pic>
        <p:nvPicPr>
          <p:cNvPr id="6" name="Picture 5" descr="puppet.gif"/>
          <p:cNvPicPr>
            <a:picLocks noChangeAspect="1"/>
          </p:cNvPicPr>
          <p:nvPr/>
        </p:nvPicPr>
        <p:blipFill>
          <a:blip r:embed="rId2"/>
          <a:srcRect l="284" r="284"/>
          <a:stretch>
            <a:fillRect/>
          </a:stretch>
        </p:blipFill>
        <p:spPr>
          <a:xfrm>
            <a:off x="8488375" y="1417320"/>
            <a:ext cx="3200400" cy="40233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A throne surrounded by whispers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King-makers unleashed: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Forty crowned, controlled and destroyed Bahram Shah (1240–42) and Masud Shah (1242–46).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cost of chaos: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Mongols sacked Lahore in 1241 — and Delhi could do nothing.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Nasiruddin Mahmud (1246–66):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gentle and pious — wisely left the real work of government to his deputy, Balban.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 historian's gift: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Minhaj-us-Siraj dedicated his Tabaqat-i-Nasiri to this sultan — our most important source.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1266: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Mahmud died without a son; the deputy finally took the crown himself.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0.018 0.008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12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BALBAN (r. 1266–1287) – BLOOD AND IRON</a:t>
            </a:r>
          </a:p>
        </p:txBody>
      </p:sp>
      <p:pic>
        <p:nvPicPr>
          <p:cNvPr id="6" name="Picture 5" descr="balban.gif"/>
          <p:cNvPicPr>
            <a:picLocks noChangeAspect="1"/>
          </p:cNvPicPr>
          <p:nvPr/>
        </p:nvPicPr>
        <p:blipFill>
          <a:blip r:embed="rId2"/>
          <a:srcRect l="1389" r="1389"/>
          <a:stretch>
            <a:fillRect/>
          </a:stretch>
        </p:blipFill>
        <p:spPr>
          <a:xfrm>
            <a:off x="8488375" y="1417320"/>
            <a:ext cx="3200400" cy="411480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58698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A court where no one dared to laugh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Water-carrier to 'Shadow of God':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declared the Sultan Zil-e-Ilahi; court modelled on the Persian emperors.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Theatre of majesty: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sijda and paibos, Nauroz pomp, drawn swords — no laughter in open court.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Blood and iron: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cleared the Mewati bandits, crushed doab rebels, pacified Katehar — roads safe again.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Broke the Forty: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old comrades sidelined, poisoned or executed; barid spies in every province.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Bengal (1279):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marched there at nearly eighty; an example so harsh Bengal stayed quiet for a generation.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price: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his heir Prince Muhammad fell to the Mongols (1285); Balban died broken in 1287.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-0.018 -0.01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13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FALL OF THE DYNASTY (1287–1290)</a:t>
            </a:r>
          </a:p>
        </p:txBody>
      </p:sp>
      <p:pic>
        <p:nvPicPr>
          <p:cNvPr id="6" name="Picture 5" descr="duel.gif"/>
          <p:cNvPicPr>
            <a:picLocks noChangeAspect="1"/>
          </p:cNvPicPr>
          <p:nvPr/>
        </p:nvPicPr>
        <p:blipFill>
          <a:blip r:embed="rId2"/>
          <a:srcRect l="284" r="284"/>
          <a:stretch>
            <a:fillRect/>
          </a:stretch>
        </p:blipFill>
        <p:spPr>
          <a:xfrm>
            <a:off x="8488375" y="1417320"/>
            <a:ext cx="3200400" cy="40233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1290 — the Khalji swords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Dynasties rarely survive their strongmen: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nobles ignored Balban's chosen heir and crowned teenage Kaiqubad.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Three wasted years: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freed from suffocating discipline, Kaiqubad sank into pleasure — administration collapsed.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Rise of the Khaljis: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old Turkish party lost ground to veteran commander Jalal-ud-din Khalji.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1290 – Khalji Revolution: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paralysed Kaiqubad was killed at Kilokhri; Jalal-ud-din took the throne.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More than a family change: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Turkish slave elite's monopoly broke forever — the dynasty fell to the very principle that had raised it: power belongs to the capable.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0.016 -0.009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14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ADMINISTRATION</a:t>
            </a:r>
          </a:p>
        </p:txBody>
      </p:sp>
      <p:pic>
        <p:nvPicPr>
          <p:cNvPr id="6" name="Picture 5" descr="tanka.gif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037015" y="1417320"/>
            <a:ext cx="2651760" cy="26517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62695" y="412394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Silver tanka of Iltutmish — ancestor of the rupee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80768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Sultan: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absolute in theory — military power + Islamic legitimacy + (after Balban) a semi-divine aura.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Great ministries: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diwan-i-wizarat (finance), ariz-i-mamalik (army), diwan-i-insha (correspondence), qazi (justice).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iqta system: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officers (muqtis) got a territory's land revenue instead of salary — troops, order, surplus to Delhi.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Transferable, not hereditary: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strong sultans shuffled muqtis so no officer could grow local roots.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Army &amp; intelligence: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heavy cavalry and war elephants; Balban paid the central army directly; barids everywhere.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Everyday India carried 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village life, caste society, customary law — taxed but rarely touched.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15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ART AND ARCHITECTURE</a:t>
            </a:r>
          </a:p>
        </p:txBody>
      </p:sp>
      <p:pic>
        <p:nvPicPr>
          <p:cNvPr id="6" name="Picture 5" descr="minar.gif"/>
          <p:cNvPicPr>
            <a:picLocks noChangeAspect="1"/>
          </p:cNvPicPr>
          <p:nvPr/>
        </p:nvPicPr>
        <p:blipFill>
          <a:blip r:embed="rId2"/>
          <a:srcRect t="212" b="212"/>
          <a:stretch>
            <a:fillRect/>
          </a:stretch>
        </p:blipFill>
        <p:spPr>
          <a:xfrm>
            <a:off x="8762695" y="1417320"/>
            <a:ext cx="2926080" cy="429768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488375" y="576986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The tower still rises over Delhi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80257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Quwwat-ul-Islam mosque: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Delhi's first great mosque — built on carved temple pillars; two artistic worlds merging.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Qutb Minar: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begun by Aibak, completed by Iltutmish — 72.5 m, world's tallest brick minaret.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Tombs: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Iltutmish's carved tomb; Sultan Ghari — earliest Islamic tomb in India.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Balban's tomb: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one of India's first true arches — pointing toward the Mughal domes to come.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-0.014 0.01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16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LEGACY AND SIGNIFICANCE</a:t>
            </a:r>
          </a:p>
        </p:txBody>
      </p:sp>
      <p:pic>
        <p:nvPicPr>
          <p:cNvPr id="6" name="Picture 5" descr="legacy.gif"/>
          <p:cNvPicPr>
            <a:picLocks noChangeAspect="1"/>
          </p:cNvPicPr>
          <p:nvPr/>
        </p:nvPicPr>
        <p:blipFill>
          <a:blip r:embed="rId2"/>
          <a:srcRect l="42" r="42"/>
          <a:stretch>
            <a:fillRect/>
          </a:stretch>
        </p:blipFill>
        <p:spPr>
          <a:xfrm>
            <a:off x="8671255" y="1417320"/>
            <a:ext cx="3017520" cy="411480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96935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What they built still stands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7111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Political: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made Delhi the imperial centre of India — a status it has never really lost.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Administrative: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iqta, ministries, barid network, standing army — scaffolding for Khaljis, Tughlaqs, even Mughals.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Economic: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the tanka–jital currency anchored north Indian commerce for generations.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Strategic: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its defence of the north-west kept the Mongol catastrophe out of India.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Cultural: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Amir Khusrau's poetry, the Chishti saints, and the start of the Indo-Islamic synthesis.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 radical idea: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 slave could become sultan; a woman could rule — the throne of Delhi could be earned.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0000" fill="hold"/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113000" y="113000"/>
                                    </p:animScale>
                                    <p:animMotion origin="layout" path="M 0 0 L 0.018 0.008 E" pathEditMode="relative" ptsTypes="">
                                      <p:cBhvr>
                                        <p:cTn id="20" dur="1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17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372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An empire founded by men who had once been merchandise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the strangest arc in medieval Indian history.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Aibak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turned a conqueror's garrisons into a kingdom.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Iltutmish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gave it law, money and legitimacy — and saved it from Chingiz Khan with one evasive letter.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Razia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showed how far ability could carry a person; her fate showed where the limits lay.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Balban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rebuilt the crown's majesty with ceremony and cruelty — and held the frontier at the cost of his son.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Eighty-four years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an improvised occupation became a settled state with a capital, a currency and a culture. The dynasties that followed built higher, but on this foundation.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63721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 u="sng">
                <a:solidFill>
                  <a:srgbClr val="80340D"/>
                </a:solidFill>
                <a:latin typeface="Bernard MT Condensed"/>
              </a:rPr>
              <a:t>THANK YOU</a:t>
            </a:r>
          </a:p>
        </p:txBody>
      </p:sp>
      <p:pic>
        <p:nvPicPr>
          <p:cNvPr id="8" name="Picture 7" descr="ho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81328" y="4663440"/>
            <a:ext cx="1234440" cy="95477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7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7" dur="800" autoRev="1" repeatCount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51" dur="6000" repeatCount="indefinite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