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1783080"/>
            <a:ext cx="1554480" cy="1571555"/>
          </a:xfrm>
          <a:prstGeom prst="rect">
            <a:avLst/>
          </a:prstGeom>
        </p:spPr>
      </p:pic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502920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pic>
        <p:nvPicPr>
          <p:cNvPr id="7" name="Picture 6" descr="mamluk_cavalry.jpg"/>
          <p:cNvPicPr>
            <a:picLocks noChangeAspect="1"/>
          </p:cNvPicPr>
          <p:nvPr/>
        </p:nvPicPr>
        <p:blipFill>
          <a:blip r:embed="rId4"/>
          <a:srcRect l="12500" r="12500"/>
          <a:stretch>
            <a:fillRect/>
          </a:stretch>
        </p:blipFill>
        <p:spPr>
          <a:xfrm>
            <a:off x="10134295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194560" y="3520440"/>
            <a:ext cx="78025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4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2064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4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  <p:pic>
        <p:nvPicPr>
          <p:cNvPr id="11" name="Picture 10" descr="hor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700784" y="5577840"/>
            <a:ext cx="1417320" cy="109621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37" dur="70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Timeline at a Glance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pic>
        <p:nvPicPr>
          <p:cNvPr id="6" name="Picture 5" descr="intro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From chains to crowns — the story begins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a former slave or a slave's descendant.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Really three families: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houses of Aibak, Iltutmish and Balban, one after another.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8 -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TIMELINE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0545775" cy="5486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9759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1206–10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Qutb-ud-din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Aibak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'Lakh Baksh'</a:t>
            </a:r>
          </a:p>
        </p:txBody>
      </p:sp>
      <p:sp>
        <p:nvSpPr>
          <p:cNvPr id="8" name="Oval 7"/>
          <p:cNvSpPr/>
          <p:nvPr/>
        </p:nvSpPr>
        <p:spPr>
          <a:xfrm>
            <a:off x="146898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7663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1210–11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Aram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Shah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Weak interlude</a:t>
            </a:r>
          </a:p>
        </p:txBody>
      </p:sp>
      <p:sp>
        <p:nvSpPr>
          <p:cNvPr id="10" name="Oval 9"/>
          <p:cNvSpPr/>
          <p:nvPr/>
        </p:nvSpPr>
        <p:spPr>
          <a:xfrm>
            <a:off x="298688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55567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1211–36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Iltutmish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Real 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tanka, Caliph</a:t>
            </a:r>
          </a:p>
        </p:txBody>
      </p:sp>
      <p:sp>
        <p:nvSpPr>
          <p:cNvPr id="12" name="Oval 11"/>
          <p:cNvSpPr/>
          <p:nvPr/>
        </p:nvSpPr>
        <p:spPr>
          <a:xfrm>
            <a:off x="4504791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3471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1236–40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Razia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Only woman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 the throne</a:t>
            </a:r>
          </a:p>
        </p:txBody>
      </p:sp>
      <p:sp>
        <p:nvSpPr>
          <p:cNvPr id="14" name="Oval 13"/>
          <p:cNvSpPr/>
          <p:nvPr/>
        </p:nvSpPr>
        <p:spPr>
          <a:xfrm>
            <a:off x="6022695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91375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1240–66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Puppet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Sultans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Rule of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'The Forty'</a:t>
            </a:r>
          </a:p>
        </p:txBody>
      </p:sp>
      <p:sp>
        <p:nvSpPr>
          <p:cNvPr id="16" name="Oval 15"/>
          <p:cNvSpPr/>
          <p:nvPr/>
        </p:nvSpPr>
        <p:spPr>
          <a:xfrm>
            <a:off x="7540599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09279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1266–87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Balban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Blood &amp; iron,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Zil-e-Ilahi</a:t>
            </a:r>
          </a:p>
        </p:txBody>
      </p:sp>
      <p:sp>
        <p:nvSpPr>
          <p:cNvPr id="18" name="Oval 17"/>
          <p:cNvSpPr/>
          <p:nvPr/>
        </p:nvSpPr>
        <p:spPr>
          <a:xfrm>
            <a:off x="905850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7183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1287–90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Kaiqubad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&amp; fall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Khalji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Revolution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57640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1872" y="2907792"/>
            <a:ext cx="1051560" cy="81332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67" dur="55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pic>
        <p:nvPicPr>
          <p:cNvPr id="6" name="Picture 5" descr="market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boy is bought in Bukhara… a sultan is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(bandagan) — Turkic boys bought in Central Asian markets, trained in war, horsemanship and court manners.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they ate well, commanded armies, married into noble families — apprenticeship plus bonded loyalty.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asked about having no heir, Ghori said his thousands of Turkish slaves would carry his name — and they did.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6 -0.009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pic>
        <p:nvPicPr>
          <p:cNvPr id="6" name="Picture 5" descr="ghori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Damyak, March 1206 — daggers in the 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ambitious slave generals.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rivals: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Yildiz at Ghazni, Qabacha at Multan-Uch, Qutb-ud-din Aibak holding the Indian territories.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used modest titles (Malik, Sipahsalar) until formally freed and recognised (c. 1208).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 independent Indian kingdom owing nothing to Ghazni — the Delhi Sultanate begins here.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4 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pic>
        <p:nvPicPr>
          <p:cNvPr id="6" name="Picture 5" descr="aibak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Lakh Baksh — gold flows from the throne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Slave market to throne: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sold as a child at Nishapur, educated by a qazi, bought by Ghori — rose to be his best general.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Conqueror of the north: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giver of lakhs — famous above all for open-handed generosity.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began the Quwwat-ul-Islam mosque and Qutb Minar at Delhi; Adhai Din ka Jhonpra at Ajmer.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Sudden end (1210):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died in a fall while playing chaugan (polo) at Lahore. His short reign turned a general's command into a kingdom.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8 0.008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pic>
        <p:nvPicPr>
          <p:cNvPr id="6" name="Picture 5" descr="iltutmish.gif"/>
          <p:cNvPicPr>
            <a:picLocks noChangeAspect="1"/>
          </p:cNvPicPr>
          <p:nvPr/>
        </p:nvPicPr>
        <p:blipFill>
          <a:blip r:embed="rId2"/>
          <a:srcRect l="1389" r="1389"/>
          <a:stretch>
            <a:fillRect/>
          </a:stretch>
        </p:blipFill>
        <p:spPr>
          <a:xfrm>
            <a:off x="8488375" y="1417320"/>
            <a:ext cx="320040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1229 — the Caliph’s robe arrives from Baghdad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out of jealousy — rose through sheer ability.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Yildiz (1216), Qabacha (1228); recovered Ranthambore, Gwalior; brought Bengal back.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Baghdad's recognition made the Sultanate a lawful state in the Islamic world.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Forty (Chahalgani), the iqta system, Delhi as permanent capital.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silver tanka + copper jital — ancestors of the rupee.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nominated his daughter Razia as heir over his sons.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8 -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pic>
        <p:nvPicPr>
          <p:cNvPr id="6" name="Picture 5" descr="mongol.gif"/>
          <p:cNvPicPr>
            <a:picLocks noChangeAspect="1"/>
          </p:cNvPicPr>
          <p:nvPr/>
        </p:nvPicPr>
        <p:blipFill>
          <a:blip r:embed="rId2"/>
          <a:srcRect t="2222" b="2222"/>
          <a:stretch>
            <a:fillRect/>
          </a:stretch>
        </p:blipFill>
        <p:spPr>
          <a:xfrm>
            <a:off x="8396935" y="1417320"/>
            <a:ext cx="329184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22615" y="540410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1221 — the horde waits across the Indus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4368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after destroying Khwarazm, the Mongols chased prince Jalal-ud-din to India's doorstep.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shelter the fugitive prince and invite Chingiz Khan in — or refuse and look cowardly?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politely replied that Delhi's climate 'would not suit' the prince — and quietly moved troops.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withdrew; India escaped the fate of Merv, Nishapur and Baghdad.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and the thirty-year-old Sultanate might have ended there.</a:t>
            </a:r>
          </a:p>
        </p:txBody>
      </p:sp>
      <p:pic>
        <p:nvPicPr>
          <p:cNvPr id="9" name="Picture 8" descr="ho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975" y="4535918"/>
            <a:ext cx="914400" cy="707237"/>
          </a:xfrm>
          <a:prstGeom prst="rect">
            <a:avLst/>
          </a:prstGeom>
        </p:spPr>
      </p:pic>
      <p:pic>
        <p:nvPicPr>
          <p:cNvPr id="10" name="Picture 9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0" y="5806440"/>
            <a:ext cx="1234440" cy="182880"/>
          </a:xfrm>
          <a:prstGeom prst="rect">
            <a:avLst/>
          </a:prstGeom>
        </p:spPr>
      </p:pic>
      <p:pic>
        <p:nvPicPr>
          <p:cNvPr id="11" name="Picture 10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0" y="6053328"/>
            <a:ext cx="1234440" cy="182880"/>
          </a:xfrm>
          <a:prstGeom prst="rect">
            <a:avLst/>
          </a:prstGeom>
        </p:spPr>
      </p:pic>
      <p:pic>
        <p:nvPicPr>
          <p:cNvPr id="12" name="Picture 11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0" y="6291072"/>
            <a:ext cx="1234440" cy="1828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6 -0.009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60 -0.005 E" pathEditMode="relative" ptsTypes="">
                                      <p:cBhvr>
                                        <p:cTn id="49" dur="360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53" dur="21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0" presetClass="path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57" dur="17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61" dur="19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pic>
        <p:nvPicPr>
          <p:cNvPr id="6" name="Picture 5" descr="razia.gif"/>
          <p:cNvPicPr>
            <a:picLocks noChangeAspect="1"/>
          </p:cNvPicPr>
          <p:nvPr/>
        </p:nvPicPr>
        <p:blipFill>
          <a:blip r:embed="rId2"/>
          <a:srcRect l="1389" r="1389"/>
          <a:stretch>
            <a:fillRect/>
          </a:stretch>
        </p:blipFill>
        <p:spPr>
          <a:xfrm>
            <a:off x="8488375" y="1417320"/>
            <a:ext cx="320040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Sultan, not a Sultana — leading from the front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to rule from the throne of Delhi — crowned after Delhi's citizens rose against Ruknuddin Firuz.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Minhaj's verdict: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every kingly quality 'except her sex' — one line that explains her whole struggle.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promoted able outsiders like the Abyssinian Yaqut — enraging the Turkish Forty.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betrayed, imprisoned, married the rebel Altunia, marched on Delhi — killed near Kaithal.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She fell not for ruling badly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— but for ruling too independently.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4 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pic>
        <p:nvPicPr>
          <p:cNvPr id="6" name="Picture 5" descr="puppet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throne surrounded by whispers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Forty crowned, controlled and destroyed Bahram Shah (1240–42) and Masud Shah (1242–46).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sacked Lahore in 1241 — and Delhi could do nothing.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gentle and pious — wisely left the real work of government to his deputy, Balban.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most important source.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Mahmud died without a son; the deputy finally took the crown himself.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8 0.008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pic>
        <p:nvPicPr>
          <p:cNvPr id="6" name="Picture 5" descr="balban.gif"/>
          <p:cNvPicPr>
            <a:picLocks noChangeAspect="1"/>
          </p:cNvPicPr>
          <p:nvPr/>
        </p:nvPicPr>
        <p:blipFill>
          <a:blip r:embed="rId2"/>
          <a:srcRect l="1389" r="1389"/>
          <a:stretch>
            <a:fillRect/>
          </a:stretch>
        </p:blipFill>
        <p:spPr>
          <a:xfrm>
            <a:off x="8488375" y="1417320"/>
            <a:ext cx="320040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court where no one dared to laugh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declared the Sultan Zil-e-Ilahi; court modelled on the Persian emperors.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sijda and paibos, Nauroz pomp, drawn swords — no laughter in open court.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cleared the Mewati bandits, crushed doab rebels, pacified Katehar — roads safe again.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old comrades sidelined, poisoned or executed; barid spies in every province.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Bengal (1279):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marched there at nearly eighty; an example so harsh Bengal stayed quiet for a generation.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price: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his heir Prince Muhammad fell to the Mongols (1285); Balban died broken in 1287.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8 -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pic>
        <p:nvPicPr>
          <p:cNvPr id="6" name="Picture 5" descr="duel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1290 — the Khalji swords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Dynasties rarely survive their strongmen: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nobles ignored Balban's chosen heir and crowned teenage Kaiqubad.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freed from suffocating discipline, Kaiqubad sank into pleasure — administration collapsed.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old Turkish party lost ground to veteran commander Jalal-ud-din Khalji.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1290 – Khalji Revolution: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paralysed Kaiqubad was killed at Kilokhri; Jalal-ud-din took the throne.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More than a family change: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Turkish slave elite's monopoly broke forever — the dynasty fell to the very principle that had raised it: power belongs to the capable.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6 -0.009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pic>
        <p:nvPicPr>
          <p:cNvPr id="6" name="Picture 5" descr="tanka.gif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037015" y="1417320"/>
            <a:ext cx="2651760" cy="26517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1239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Silver tanka of Iltutmish — ancestor of the rupee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diwan-i-wizarat (finance), ariz-i-mamalik (army), diwan-i-insha (correspondence), qazi (justice).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officers (muqtis) got a territory's land revenue instead of salary — troops, order, surplus to Delhi.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strong sultans shuffled muqtis so no officer could grow local roots.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Army &amp; intelligence: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directly; barids everywhere.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village life, caste society, customary law — taxed but rarely touched.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pic>
        <p:nvPicPr>
          <p:cNvPr id="6" name="Picture 5" descr="minar.gif"/>
          <p:cNvPicPr>
            <a:picLocks noChangeAspect="1"/>
          </p:cNvPicPr>
          <p:nvPr/>
        </p:nvPicPr>
        <p:blipFill>
          <a:blip r:embed="rId2"/>
          <a:srcRect t="212" b="212"/>
          <a:stretch>
            <a:fillRect/>
          </a:stretch>
        </p:blipFill>
        <p:spPr>
          <a:xfrm>
            <a:off x="8762695" y="1417320"/>
            <a:ext cx="2926080" cy="42976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488375" y="576986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tower still rises over Delhi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80257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merging.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begun by Aibak, completed by Iltutmish — 72.5 m, world's tallest brick minaret.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Iltutmish's carved tomb; Sultan Ghari — earliest Islamic tomb in India.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one of India's first true arches — pointing toward the Mughal domes to come.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4 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pic>
        <p:nvPicPr>
          <p:cNvPr id="6" name="Picture 5" descr="legacy.gif"/>
          <p:cNvPicPr>
            <a:picLocks noChangeAspect="1"/>
          </p:cNvPicPr>
          <p:nvPr/>
        </p:nvPicPr>
        <p:blipFill>
          <a:blip r:embed="rId2"/>
          <a:srcRect l="42" r="42"/>
          <a:stretch>
            <a:fillRect/>
          </a:stretch>
        </p:blipFill>
        <p:spPr>
          <a:xfrm>
            <a:off x="8671255" y="1417320"/>
            <a:ext cx="301752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What they built still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iqta, ministries, barid network, standing army — scaffolding for Khaljis, Tughlaqs, even Mughals.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Amir Khusrau's poetry, the Chishti saints, and the start of the Indo-Islamic synthesis.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 slave could become sultan; a woman could rule — the throne of Delhi could be earned.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8 0.008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37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strangest arc in medieval Indian history.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turned a conqueror's garrisons into a kingdom.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gave it law, money and legitimacy — and saved it from Chingiz Khan with one evasive letter.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showed how far ability could carry a person; her fate showed where the limits lay.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rebuilt the crown's majesty with ceremony and cruelty — and held the frontier at the cost of his son.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an improvised occupation became a settled state with a capital, a currency and a culture. The dynasties that followed built higher, but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372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  <p:pic>
        <p:nvPicPr>
          <p:cNvPr id="8" name="Picture 7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81328" y="4663440"/>
            <a:ext cx="1234440" cy="95477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800" autoRev="1" repeatCount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51" dur="60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THANK YOU, MATES!</a:t>
            </a:r>
          </a:p>
        </p:txBody>
      </p:sp>
      <p:pic>
        <p:nvPicPr>
          <p:cNvPr id="6" name="Picture 5" descr="teddy.gif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178808" y="1298448"/>
            <a:ext cx="3840480" cy="48006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04488" y="6153912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That's the story of the Slave Dynasty — thank you mates!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