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 u="sng">
                <a:solidFill>
                  <a:srgbClr val="261A10"/>
                </a:solidFill>
                <a:latin typeface="Bernard MT Condensed"/>
              </a:rPr>
              <a:t>LOVELY PROFESSIONAL UNIVERSITY</a:t>
            </a:r>
          </a:p>
          <a:p>
            <a:pPr algn="ctr">
              <a:spcBef>
                <a:spcPts val="600"/>
              </a:spcBef>
            </a:pPr>
            <a:r>
              <a:rPr sz="2600" b="0" i="0" u="sng">
                <a:solidFill>
                  <a:srgbClr val="261A10"/>
                </a:solidFill>
                <a:latin typeface="Bernard MT Condensed"/>
              </a:rPr>
              <a:t>SCHOOL OF LAW</a:t>
            </a:r>
          </a:p>
        </p:txBody>
      </p:sp>
      <p:pic>
        <p:nvPicPr>
          <p:cNvPr id="5" name="Picture 4" descr="lpu_s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5747" y="1828800"/>
            <a:ext cx="1600200" cy="16177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61188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0340D"/>
                </a:solidFill>
                <a:latin typeface="Bernard MT Condensed"/>
              </a:rPr>
              <a:t>CA – 01 HISTORY (SSC231)</a:t>
            </a:r>
          </a:p>
          <a:p>
            <a:pPr algn="ctr">
              <a:spcBef>
                <a:spcPts val="400"/>
              </a:spcBef>
            </a:pPr>
            <a:r>
              <a:rPr sz="3600" b="0" i="0" u="sng">
                <a:solidFill>
                  <a:srgbClr val="80340D"/>
                </a:solidFill>
                <a:latin typeface="Bernard MT Condensed"/>
              </a:rPr>
              <a:t>SLAVE DYNASTY (MAMLUK DYNASTY)</a:t>
            </a:r>
          </a:p>
          <a:p>
            <a:pPr algn="ctr">
              <a:spcBef>
                <a:spcPts val="400"/>
              </a:spcBef>
            </a:pPr>
            <a:r>
              <a:rPr sz="1600" b="0" i="1">
                <a:solidFill>
                  <a:srgbClr val="261A10"/>
                </a:solidFill>
                <a:latin typeface="Times New Roman"/>
              </a:rPr>
              <a:t>Delhi Sultanate • 1206 – 1290 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516636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261A10"/>
                </a:solidFill>
                <a:latin typeface="Bernard MT Condensed"/>
              </a:rPr>
              <a:t>Submitted by :</a:t>
            </a:r>
          </a:p>
          <a:p>
            <a:pPr>
              <a:spcBef>
                <a:spcPts val="200"/>
              </a:spcBef>
            </a:pPr>
            <a:r>
              <a:rPr sz="1500" b="1" i="0">
                <a:solidFill>
                  <a:srgbClr val="261A10"/>
                </a:solidFill>
                <a:latin typeface="Times New Roman"/>
              </a:rPr>
              <a:t>Sangam Sitapuri</a:t>
            </a:r>
          </a:p>
          <a:p>
            <a:pPr>
              <a:spcBef>
                <a:spcPts val="200"/>
              </a:spcBef>
            </a:pPr>
            <a:r>
              <a:rPr sz="1500" b="1" i="0">
                <a:solidFill>
                  <a:srgbClr val="261A10"/>
                </a:solidFill>
                <a:latin typeface="Times New Roman"/>
              </a:rPr>
              <a:t>Reg. no. – RK202406B65</a:t>
            </a:r>
          </a:p>
          <a:p>
            <a:pPr>
              <a:spcBef>
                <a:spcPts val="200"/>
              </a:spcBef>
            </a:pPr>
            <a:r>
              <a:rPr sz="1500" b="1" i="0">
                <a:solidFill>
                  <a:srgbClr val="261A10"/>
                </a:solidFill>
                <a:latin typeface="Times New Roman"/>
              </a:rPr>
              <a:t>Course – SSC231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516636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261A10"/>
                </a:solidFill>
                <a:latin typeface="Bernard MT Condensed"/>
              </a:rPr>
              <a:t>Submitted to :</a:t>
            </a:r>
          </a:p>
          <a:p>
            <a:pPr>
              <a:spcBef>
                <a:spcPts val="200"/>
              </a:spcBef>
            </a:pPr>
            <a:r>
              <a:rPr sz="1500" b="1" i="0" u="sng">
                <a:solidFill>
                  <a:srgbClr val="261A10"/>
                </a:solidFill>
                <a:latin typeface="Times New Roman"/>
              </a:rPr>
              <a:t>Dr. Vandana Arya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2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 i="0" u="sng">
                <a:solidFill>
                  <a:srgbClr val="0C3512"/>
                </a:solidFill>
                <a:latin typeface="Bernard MT Condensed"/>
              </a:rPr>
              <a:t>TABLE OF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 i="0">
                <a:solidFill>
                  <a:srgbClr val="80340D"/>
                </a:solidFill>
                <a:latin typeface="Times New Roman"/>
              </a:rPr>
              <a:t>01.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Introduction</a:t>
            </a:r>
          </a:p>
          <a:p>
            <a:pPr>
              <a:spcAft>
                <a:spcPts val="1400"/>
              </a:spcAft>
            </a:pPr>
            <a:r>
              <a:rPr sz="1900" b="1" i="0">
                <a:solidFill>
                  <a:srgbClr val="80340D"/>
                </a:solidFill>
                <a:latin typeface="Times New Roman"/>
              </a:rPr>
              <a:t>02.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Who Were the Mamluks?</a:t>
            </a:r>
          </a:p>
          <a:p>
            <a:pPr>
              <a:spcAft>
                <a:spcPts val="1400"/>
              </a:spcAft>
            </a:pPr>
            <a:r>
              <a:rPr sz="1900" b="1" i="0">
                <a:solidFill>
                  <a:srgbClr val="80340D"/>
                </a:solidFill>
                <a:latin typeface="Times New Roman"/>
              </a:rPr>
              <a:t>03.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1206 – Birth of the Sultanate</a:t>
            </a:r>
          </a:p>
          <a:p>
            <a:pPr>
              <a:spcAft>
                <a:spcPts val="1400"/>
              </a:spcAft>
            </a:pPr>
            <a:r>
              <a:rPr sz="1900" b="1" i="0">
                <a:solidFill>
                  <a:srgbClr val="80340D"/>
                </a:solidFill>
                <a:latin typeface="Times New Roman"/>
              </a:rPr>
              <a:t>04.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Qutb-ud-din Aibak</a:t>
            </a:r>
          </a:p>
          <a:p>
            <a:pPr>
              <a:spcAft>
                <a:spcPts val="1400"/>
              </a:spcAft>
            </a:pPr>
            <a:r>
              <a:rPr sz="1900" b="1" i="0">
                <a:solidFill>
                  <a:srgbClr val="80340D"/>
                </a:solidFill>
                <a:latin typeface="Times New Roman"/>
              </a:rPr>
              <a:t>05.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Iltutmish – The Real Founder</a:t>
            </a:r>
          </a:p>
          <a:p>
            <a:pPr>
              <a:spcAft>
                <a:spcPts val="1400"/>
              </a:spcAft>
            </a:pPr>
            <a:r>
              <a:rPr sz="1900" b="1" i="0">
                <a:solidFill>
                  <a:srgbClr val="80340D"/>
                </a:solidFill>
                <a:latin typeface="Times New Roman"/>
              </a:rPr>
              <a:t>06.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The Mongol Storm (1221)</a:t>
            </a:r>
          </a:p>
          <a:p>
            <a:pPr>
              <a:spcAft>
                <a:spcPts val="1400"/>
              </a:spcAft>
            </a:pPr>
            <a:r>
              <a:rPr sz="1900" b="1" i="0">
                <a:solidFill>
                  <a:srgbClr val="80340D"/>
                </a:solidFill>
                <a:latin typeface="Times New Roman"/>
              </a:rPr>
              <a:t>07.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Razia Sultan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 i="0">
                <a:solidFill>
                  <a:srgbClr val="80340D"/>
                </a:solidFill>
                <a:latin typeface="Times New Roman"/>
              </a:rPr>
              <a:t>08.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The Puppet Years (1240–66)</a:t>
            </a:r>
          </a:p>
          <a:p>
            <a:pPr>
              <a:spcAft>
                <a:spcPts val="1400"/>
              </a:spcAft>
            </a:pPr>
            <a:r>
              <a:rPr sz="1900" b="1" i="0">
                <a:solidFill>
                  <a:srgbClr val="80340D"/>
                </a:solidFill>
                <a:latin typeface="Times New Roman"/>
              </a:rPr>
              <a:t>09.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Balban – Blood and Iron</a:t>
            </a:r>
          </a:p>
          <a:p>
            <a:pPr>
              <a:spcAft>
                <a:spcPts val="1400"/>
              </a:spcAft>
            </a:pPr>
            <a:r>
              <a:rPr sz="1900" b="1" i="0">
                <a:solidFill>
                  <a:srgbClr val="80340D"/>
                </a:solidFill>
                <a:latin typeface="Times New Roman"/>
              </a:rPr>
              <a:t>10.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Fall of the Dynasty (1290)</a:t>
            </a:r>
          </a:p>
          <a:p>
            <a:pPr>
              <a:spcAft>
                <a:spcPts val="1400"/>
              </a:spcAft>
            </a:pPr>
            <a:r>
              <a:rPr sz="1900" b="1" i="0">
                <a:solidFill>
                  <a:srgbClr val="80340D"/>
                </a:solidFill>
                <a:latin typeface="Times New Roman"/>
              </a:rPr>
              <a:t>11.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Administration</a:t>
            </a:r>
          </a:p>
          <a:p>
            <a:pPr>
              <a:spcAft>
                <a:spcPts val="1400"/>
              </a:spcAft>
            </a:pPr>
            <a:r>
              <a:rPr sz="1900" b="1" i="0">
                <a:solidFill>
                  <a:srgbClr val="80340D"/>
                </a:solidFill>
                <a:latin typeface="Times New Roman"/>
              </a:rPr>
              <a:t>12.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Art and Architecture</a:t>
            </a:r>
          </a:p>
          <a:p>
            <a:pPr>
              <a:spcAft>
                <a:spcPts val="1400"/>
              </a:spcAft>
            </a:pPr>
            <a:r>
              <a:rPr sz="1900" b="1" i="0">
                <a:solidFill>
                  <a:srgbClr val="80340D"/>
                </a:solidFill>
                <a:latin typeface="Times New Roman"/>
              </a:rPr>
              <a:t>13.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Legacy and Significance</a:t>
            </a:r>
          </a:p>
          <a:p>
            <a:pPr>
              <a:spcAft>
                <a:spcPts val="1400"/>
              </a:spcAft>
            </a:pPr>
            <a:r>
              <a:rPr sz="1900" b="1" i="0">
                <a:solidFill>
                  <a:srgbClr val="80340D"/>
                </a:solidFill>
                <a:latin typeface="Times New Roman"/>
              </a:rPr>
              <a:t>14.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3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80340D"/>
                </a:solidFill>
                <a:latin typeface="Bernard MT Condensed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372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Rulers of Delhi, 1206–1290 CE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— the first dynasty of the Delhi Sultanate, founded after Muhammad Ghori's death.</a:t>
            </a:r>
          </a:p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'Mamluk'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is Arabic for 'one who is owned'. Every sultan of this line was either a former slave or descended from one.</a:t>
            </a:r>
          </a:p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Nobody ruled as a slave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— each ruler was legally freed (manumitted) before taking the throne. The popular name 'Slave Dynasty' is catchy but slightly misleading.</a:t>
            </a:r>
          </a:p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Really three families, not one: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the houses of Qutb-ud-din Aibak, Iltutmish and Balban, one after another.</a:t>
            </a:r>
          </a:p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Why it matters: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it laid the foundation of the Delhi Sultanate — Delhi as capital, the tanka coin, the iqta system, the Qutb Minar — shaping north India for 300 years.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4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80340D"/>
                </a:solidFill>
                <a:latin typeface="Bernard MT Condensed"/>
              </a:rPr>
              <a:t>WHO WERE THE MAMLUKS?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372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Elite military slaves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(bandagan) — Turkic boys bought in Central Asian markets, converted, and trained in war, horsemanship and court manners.</a:t>
            </a:r>
          </a:p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Loyalty by design: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cut off from family and clan, a slave soldier had nobody except his master — which made him the most trusted officer.</a:t>
            </a:r>
          </a:p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Promotion purely on merit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— a talented slave could rise to general, governor… and eventually king.</a:t>
            </a:r>
          </a:p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Not plantation slavery: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they ate well, commanded armies and married into noble families. Slavery here was really apprenticeship plus bonded loyalty.</a:t>
            </a:r>
          </a:p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Ghori's 'sons':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asked about having no heir, Muhammad Ghori reportedly said his thousands of Turkish slaves would carry his name — and they did.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5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80340D"/>
                </a:solidFill>
                <a:latin typeface="Bernard MT Condensed"/>
              </a:rPr>
              <a:t>1206 – BIRTH OF THE SULTANATE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372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March 1206: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Muhammad Ghori assassinated at Damyak on the Indus — no son, only an empire and ambitious slave generals.</a:t>
            </a:r>
          </a:p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Three rivals emerged: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Yildiz at Ghazni, Qabacha at Multan-Uch, and Qutb-ud-din Aibak holding the Indian territories.</a:t>
            </a:r>
          </a:p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Aibak moved fastest: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invited by the nobles and citizens of Lahore, he took charge of Hindustan within months.</a:t>
            </a:r>
          </a:p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Legitimacy mattered: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he used the modest titles Malik and Sipahsalar until formally manumitted and recognised (c. 1208).</a:t>
            </a:r>
          </a:p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The result: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an independent Indian kingdom, owing nothing to Ghazni — the Delhi Sultanate begins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6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80340D"/>
                </a:solidFill>
                <a:latin typeface="Bernard MT Condensed"/>
              </a:rPr>
              <a:t>QUTB-UD-DIN AIBAK (r. 1206–1210)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372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From slave market to throne: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sold as a child at Nishapur, educated by a qazi, finally bought by Muhammad Ghori — rose to be his best general.</a:t>
            </a:r>
          </a:p>
          <a:p>
            <a:pPr algn="l">
              <a:spcAft>
                <a:spcPts val="15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Real conqueror of the north: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consolidated Delhi, Meerut, Ranthambore and Gujarat campaigns after Tarain (1192).</a:t>
            </a:r>
          </a:p>
          <a:p>
            <a:pPr algn="l">
              <a:spcAft>
                <a:spcPts val="15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'Lakh Baksh'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— the giver of lakhs. Famous for open-handed generosity; chroniclers rarely mention him without praising it.</a:t>
            </a:r>
          </a:p>
          <a:p>
            <a:pPr algn="l">
              <a:spcAft>
                <a:spcPts val="15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Builder: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began the Quwwat-ul-Islam mosque and the Qutb Minar at Delhi, and Adhai Din ka Jhonpra at Ajmer.</a:t>
            </a:r>
          </a:p>
          <a:p>
            <a:pPr algn="l">
              <a:spcAft>
                <a:spcPts val="15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Sudden end: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died in 1210 in a fall while playing chaugan (polo) at Lahore; buried there. His short reign turned a general's command into a kingdom.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7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80340D"/>
                </a:solidFill>
                <a:latin typeface="Bernard MT Condensed"/>
              </a:rPr>
              <a:t>ILTUTMISH (r. 1211–1236) – THE REAL FOUNDER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6372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Sold by his own brothers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out of jealousy — a rise through sheer ability that reminded chroniclers of the story of Yusuf.</a:t>
            </a:r>
          </a:p>
          <a:p>
            <a:pPr algn="l">
              <a:spcAft>
                <a:spcPts val="13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Defeated every rival: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crushed Yildiz at Tarain (1216), broke Qabacha (1228), recovered Ranthambore and Gwalior, brought Bengal back.</a:t>
            </a:r>
          </a:p>
          <a:p>
            <a:pPr algn="l">
              <a:spcAft>
                <a:spcPts val="13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Caliph's investiture (1229):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formal recognition from Baghdad made the Sultanate a lawful state in the eyes of the Islamic world.</a:t>
            </a:r>
          </a:p>
          <a:p>
            <a:pPr algn="l">
              <a:spcAft>
                <a:spcPts val="13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Institution builder: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the corps of Forty (Turkan-i-Chahalgani), the iqta revenue system, and Delhi as permanent capital.</a:t>
            </a:r>
          </a:p>
          <a:p>
            <a:pPr algn="l">
              <a:spcAft>
                <a:spcPts val="13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Currency reform: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silver tanka (~175 grains) and copper jital — standard coins of the Sultanate, ancestors of the rupee.</a:t>
            </a:r>
          </a:p>
          <a:p>
            <a:pPr algn="l">
              <a:spcAft>
                <a:spcPts val="13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Boldest decision: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nominated his daughter Razia as heir, judging his sons incompetent.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8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80340D"/>
                </a:solidFill>
                <a:latin typeface="Bernard MT Condensed"/>
              </a:rPr>
              <a:t>THE MONGOL STORM (1221)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372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Chingiz Khan on the Indus: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after destroying the Khwarazmian empire, the Mongols chased prince Jalal-ud-din to India's doorstep.</a:t>
            </a:r>
          </a:p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The dilemma: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the fugitive prince asked Delhi for asylum. Sheltering him meant inviting Chingiz Khan in; refusing looked cowardly.</a:t>
            </a:r>
          </a:p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Iltutmish's masterstroke: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with perfect politeness he replied that Delhi's climate 'would not suit' the prince — and quietly moved troops.</a:t>
            </a:r>
          </a:p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Result: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Jalal-ud-din left, the Mongols withdrew, and India escaped the fate of Merv, Nishapur and Baghdad.</a:t>
            </a:r>
          </a:p>
          <a:p>
            <a:pPr algn="l">
              <a:spcAft>
                <a:spcPts val="16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One wrong step in 1221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and the thirty-year-old Sultanate — and much of Indian history — might have ended there.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9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80340D"/>
                </a:solidFill>
                <a:latin typeface="Bernard MT Condensed"/>
              </a:rPr>
              <a:t>RAZIA SULTAN (r. 1236–1240)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6372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First and only woman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ever to rule from the throne of Delhi — crowned after the citizens of Delhi themselves rose against Ruknuddin Firuz.</a:t>
            </a:r>
          </a:p>
          <a:p>
            <a:pPr algn="l">
              <a:spcAft>
                <a:spcPts val="13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Ruled as a king: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abandoned purdah, wore tunic and cap, led armies in person, used the title 'Sultan' — no feminine variant.</a:t>
            </a:r>
          </a:p>
          <a:p>
            <a:pPr algn="l">
              <a:spcAft>
                <a:spcPts val="13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Minhaj-us-Siraj's verdict: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she had every kingly quality 'except her sex' — one line that explains her whole struggle.</a:t>
            </a:r>
          </a:p>
          <a:p>
            <a:pPr algn="l">
              <a:spcAft>
                <a:spcPts val="13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Merit over birth: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promoted able outsiders like the Abyssinian officer Yaqut — which enraged the Turkish nobles of the Forty.</a:t>
            </a:r>
          </a:p>
          <a:p>
            <a:pPr algn="l">
              <a:spcAft>
                <a:spcPts val="13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The fall (1240):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betrayed, imprisoned at Bhatinda, married the rebel Altunia, marched on Delhi — defeated and killed near Kaithal.</a:t>
            </a:r>
          </a:p>
          <a:p>
            <a:pPr algn="l">
              <a:spcAft>
                <a:spcPts val="13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She fell not because she ruled badly,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but because she ruled too independently.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10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80340D"/>
                </a:solidFill>
                <a:latin typeface="Bernard MT Condensed"/>
              </a:rPr>
              <a:t>THE PUPPET YEARS (1240–1266)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372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King-makers unleashed: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the Forty made and unmade sultans at will — Bahram Shah (1240–42) and Masud Shah (1242–46) were crowned, controlled, and destroyed.</a:t>
            </a:r>
          </a:p>
          <a:p>
            <a:pPr algn="l">
              <a:spcAft>
                <a:spcPts val="15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The cost of chaos: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while the court devoured itself, the Mongols sacked Lahore in 1241 — and Delhi could do nothing.</a:t>
            </a:r>
          </a:p>
          <a:p>
            <a:pPr algn="l">
              <a:spcAft>
                <a:spcPts val="15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Nasiruddin Mahmud (1246–66):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gentle, pious, famously simple — wisely left the real work of government to his deputy, Balban.</a:t>
            </a:r>
          </a:p>
          <a:p>
            <a:pPr algn="l">
              <a:spcAft>
                <a:spcPts val="15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A historian's gift: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Minhaj-us-Siraj dedicated his Tabaqat-i-Nasiri to this sultan — our single most important source for the period.</a:t>
            </a:r>
          </a:p>
          <a:p>
            <a:pPr algn="l">
              <a:spcAft>
                <a:spcPts val="15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1266: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Mahmud died without a son; the deputy who had run the state for years finally took the crown himself.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11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80340D"/>
                </a:solidFill>
                <a:latin typeface="Bernard MT Condensed"/>
              </a:rPr>
              <a:t>BALBAN (r. 1266–1287) – BLOOD AND IRON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6372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Water-carrier to 'Shadow of God':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a former slave who declared the Sultan Zil-e-Ilahi and modelled his court on the Persian emperors.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Theatre of majesty: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sijda and paibos, Nauroz ceremony, drawn swords, no laughter in open court — the awe of the crown returned.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Blood and iron: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cleared the Mewati bandits around Delhi, crushed the doab rebels, pacified Katehar — roads became safe again.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Broke the Forty: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his own old comrades — sidelined, poisoned or executed; spies (barids) in every province and noble household.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Bengal rebellion (1279):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marched there at nearly eighty and made an example so terrifying Bengal stayed quiet for a generation.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The price of the frontier: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his beloved heir Prince Muhammad fell to the Mongols (1285); Balban's health broke, and he died in 1287.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12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80340D"/>
                </a:solidFill>
                <a:latin typeface="Bernard MT Condensed"/>
              </a:rPr>
              <a:t>FALL OF THE DYNASTY (1287–1290)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372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Dynasties rarely survive their strongmen.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The nobles ignored Balban's chosen heir and crowned his teenage grandson Kaiqubad.</a:t>
            </a:r>
          </a:p>
          <a:p>
            <a:pPr algn="l">
              <a:spcAft>
                <a:spcPts val="15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Three wasted years: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raised under suffocating discipline, Kaiqubad threw himself into pleasure — administration and health both collapsed.</a:t>
            </a:r>
          </a:p>
          <a:p>
            <a:pPr algn="l">
              <a:spcAft>
                <a:spcPts val="15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Rise of the Khaljis: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the old Turkish party lost ground to the veteran commander Jalal-ud-din Khalji and his clan.</a:t>
            </a:r>
          </a:p>
          <a:p>
            <a:pPr algn="l">
              <a:spcAft>
                <a:spcPts val="15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1290 – the Khalji Revolution: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the paralysed Kaiqubad was killed in his palace at Kilokhri; Jalal-ud-din took the throne.</a:t>
            </a:r>
          </a:p>
          <a:p>
            <a:pPr algn="l">
              <a:spcAft>
                <a:spcPts val="1500"/>
              </a:spcAft>
            </a:pPr>
            <a:r>
              <a:rPr sz="19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900" b="1" i="0">
                <a:solidFill>
                  <a:srgbClr val="261A10"/>
                </a:solidFill>
                <a:latin typeface="Times New Roman"/>
              </a:rPr>
              <a:t>More than a change of family: </a:t>
            </a:r>
            <a:r>
              <a:rPr sz="1900" b="0" i="0">
                <a:solidFill>
                  <a:srgbClr val="261A10"/>
                </a:solidFill>
                <a:latin typeface="Times New Roman"/>
              </a:rPr>
              <a:t>it broke the Turkish slave elite's monopoly on power forever — the dynasty of former slaves fell to the very principle that had raised it: power belongs to the capable.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13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80340D"/>
                </a:solidFill>
                <a:latin typeface="Bernard MT Condensed"/>
              </a:rPr>
              <a:t>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6372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The Sultan: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absolute in theory — military power + Islamic legitimacy + (after Balban) a semi-divine aura. In practice, he had to manage the nobles.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Great ministries: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diwan-i-wizarat (finance, under the wazir), ariz-i-mamalik (army), diwan-i-insha (correspondence), qazi (justice).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The iqta system: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officers (muqtis) got the land revenue of a territory instead of salary — they kept troops, kept order, sent the surplus to Delhi.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Transferable, not hereditary: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strong sultans shuffled muqtis regularly so no officer could grow local roots — ingenious for a cash-poor state.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Army and intelligence: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heavy cavalry and war elephants; Balban paid the central army directly and planted barid informers everywhere.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Everyday India carried on: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village life, caste society and customary law continued — the state taxed the land but rarely touched daily life.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14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80340D"/>
                </a:solidFill>
                <a:latin typeface="Bernard MT Condensed"/>
              </a:rPr>
              <a:t>ART AND ARCHITECTURE</a:t>
            </a:r>
          </a:p>
        </p:txBody>
      </p:sp>
      <p:pic>
        <p:nvPicPr>
          <p:cNvPr id="6" name="Picture 5" descr="qutb_minar.jpg"/>
          <p:cNvPicPr>
            <a:picLocks noChangeAspect="1"/>
          </p:cNvPicPr>
          <p:nvPr/>
        </p:nvPicPr>
        <p:blipFill>
          <a:blip r:embed="rId2"/>
          <a:srcRect t="403" b="403"/>
          <a:stretch>
            <a:fillRect/>
          </a:stretch>
        </p:blipFill>
        <p:spPr>
          <a:xfrm>
            <a:off x="8945575" y="1325880"/>
            <a:ext cx="2834640" cy="3749039"/>
          </a:xfrm>
          <a:prstGeom prst="rect">
            <a:avLst/>
          </a:prstGeom>
        </p:spPr>
      </p:pic>
      <p:pic>
        <p:nvPicPr>
          <p:cNvPr id="7" name="Picture 6" descr="quwwat.jpg"/>
          <p:cNvPicPr>
            <a:picLocks noChangeAspect="1"/>
          </p:cNvPicPr>
          <p:nvPr/>
        </p:nvPicPr>
        <p:blipFill>
          <a:blip r:embed="rId3"/>
          <a:srcRect t="6086" b="6086"/>
          <a:stretch>
            <a:fillRect/>
          </a:stretch>
        </p:blipFill>
        <p:spPr>
          <a:xfrm>
            <a:off x="5928055" y="1325880"/>
            <a:ext cx="2834640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28055" y="512064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Quwwat-ul-Islam mosque corridor  •  Qutb Minar (72.5 m — world's tallest brick minaret)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3716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00" b="1" i="0">
                <a:solidFill>
                  <a:srgbClr val="261A10"/>
                </a:solidFill>
                <a:latin typeface="Times New Roman"/>
              </a:rPr>
              <a:t>Quwwat-ul-Islam mosque: </a:t>
            </a:r>
            <a:r>
              <a:rPr sz="1600" b="0" i="0">
                <a:solidFill>
                  <a:srgbClr val="261A10"/>
                </a:solidFill>
                <a:latin typeface="Times New Roman"/>
              </a:rPr>
              <a:t>Delhi's first great mosque — built on carved temple pillars; two artistic worlds colliding and merging.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00" b="1" i="0">
                <a:solidFill>
                  <a:srgbClr val="261A10"/>
                </a:solidFill>
                <a:latin typeface="Times New Roman"/>
              </a:rPr>
              <a:t>Qutb Minar: </a:t>
            </a:r>
            <a:r>
              <a:rPr sz="1600" b="0" i="0">
                <a:solidFill>
                  <a:srgbClr val="261A10"/>
                </a:solidFill>
                <a:latin typeface="Times New Roman"/>
              </a:rPr>
              <a:t>begun by Aibak, completed by Iltutmish — red sandstone, Quranic calligraphy.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00" b="1" i="0">
                <a:solidFill>
                  <a:srgbClr val="261A10"/>
                </a:solidFill>
                <a:latin typeface="Times New Roman"/>
              </a:rPr>
              <a:t>Tombs: </a:t>
            </a:r>
            <a:r>
              <a:rPr sz="1600" b="0" i="0">
                <a:solidFill>
                  <a:srgbClr val="261A10"/>
                </a:solidFill>
                <a:latin typeface="Times New Roman"/>
              </a:rPr>
              <a:t>Iltutmish's carved tomb and Sultan Ghari — the earliest Islamic tomb in India.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00" b="1" i="0">
                <a:solidFill>
                  <a:srgbClr val="261A10"/>
                </a:solidFill>
                <a:latin typeface="Times New Roman"/>
              </a:rPr>
              <a:t>Balban's tomb: </a:t>
            </a:r>
            <a:r>
              <a:rPr sz="1600" b="0" i="0">
                <a:solidFill>
                  <a:srgbClr val="261A10"/>
                </a:solidFill>
                <a:latin typeface="Times New Roman"/>
              </a:rPr>
              <a:t>ruined but historic — one of India's first true arches, pointing toward the Mughal domes to come.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15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80340D"/>
                </a:solidFill>
                <a:latin typeface="Bernard MT Condensed"/>
              </a:rPr>
              <a:t>LEGACY AND SIGNIFICANCE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6372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Political: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made Delhi the imperial centre of India — a status it has never really lost — and created the model of sultan every later dynasty copied.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Administrative: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iqta, ministries, barid network, standing army — the scaffolding on which Khaljis, Tughlaqs and even Mughals built.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Economic: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the tanka–jital currency anchored north Indian commerce for generations.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Strategic: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its defence of the north-west kept the Mongol catastrophe out of India — Indian cities were never burned like Merv or Baghdad.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Cultural: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Amir Khusrau's poetry, the Chishti saints (Bakhtiyar Kaki, Baba Farid), and the start of the Indo-Islamic synthesis in art and language.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A radical idea: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a slave could become sultan; a woman could rule an empire — the throne of Delhi could be earned, not just inherited.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16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004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80340D"/>
                </a:solidFill>
                <a:latin typeface="Bernard MT Condensed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3721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An empire founded by men who had once been merchandise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— the strangest and most instructive arc in medieval Indian history.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Aibak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turned a conqueror's garrisons into a kingdom; 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Iltutmish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gave it law, money, legitimacy — and saved it from Chingiz Khan with one brilliantly evasive letter.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Razia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showed how far ability could carry a person; her fate showed exactly where the limits lay.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Balban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rebuilt the majesty of the crown with equal parts ceremony and cruelty — and held the frontier at the cost of his son.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Eighty-four years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— less than one modern lifetime — yet in it an improvised military occupation became a settled state with a capital, a currency and a culture. The dynasties that followed built higher, but they built on this foundation.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9788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 u="sng">
                <a:solidFill>
                  <a:srgbClr val="80340D"/>
                </a:solidFill>
                <a:latin typeface="Bernard MT Condense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