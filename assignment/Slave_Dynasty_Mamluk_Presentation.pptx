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  <p:pic>
        <p:nvPicPr>
          <p:cNvPr id="11" name="Picture 10" descr="hor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00784" y="5577840"/>
            <a:ext cx="1417320" cy="109621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37" dur="70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0710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645920"/>
            <a:ext cx="3017520" cy="914400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HOUSE OF AIBAK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1206 – 1211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25786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8551E"/>
                </a:solidFill>
                <a:latin typeface="Times New Roman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063240"/>
            <a:ext cx="3017520" cy="914400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HOUSE OF ILTUTMISH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1211 – 1266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3995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8551E"/>
                </a:solidFill>
                <a:latin typeface="Times New Roman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4480560"/>
            <a:ext cx="3017520" cy="914400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HOUSE OF BALBAN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1266 – 1290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943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Three families — one throne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4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40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1872" y="2907792"/>
            <a:ext cx="1051560" cy="81332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67" dur="55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9796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5623560"/>
            <a:ext cx="2651760" cy="71323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Bought in the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67928" y="4773168"/>
            <a:ext cx="2651760" cy="71323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Trained &amp; converted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69096" y="3922776"/>
            <a:ext cx="2651760" cy="71323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Slave soldier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0264" y="3072384"/>
            <a:ext cx="2651760" cy="71323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General / Governor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2221992"/>
            <a:ext cx="2651760" cy="713232"/>
          </a:xfrm>
          <a:prstGeom prst="roundRect">
            <a:avLst/>
          </a:prstGeom>
          <a:solidFill>
            <a:srgbClr val="2E6B33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0" i="0">
                <a:solidFill>
                  <a:srgbClr val="FFE9C9"/>
                </a:solidFill>
                <a:latin typeface="Bernard MT Condensed"/>
              </a:rPr>
              <a:t>SULTAN</a:t>
            </a:r>
          </a:p>
        </p:txBody>
      </p:sp>
      <p:sp>
        <p:nvSpPr>
          <p:cNvPr id="12" name="5-Point Star 11"/>
          <p:cNvSpPr/>
          <p:nvPr/>
        </p:nvSpPr>
        <p:spPr>
          <a:xfrm>
            <a:off x="10241280" y="1325880"/>
            <a:ext cx="685800" cy="685800"/>
          </a:xfrm>
          <a:prstGeom prst="star5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Slavery was a ladder, not a pit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3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700" autoRev="1" repeatCount="3000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9796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554480"/>
            <a:ext cx="2651760" cy="914400"/>
          </a:xfrm>
          <a:prstGeom prst="roundRect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0" i="0">
                <a:solidFill>
                  <a:srgbClr val="FFE9C9"/>
                </a:solidFill>
                <a:latin typeface="Bernard MT Condensed"/>
              </a:rPr>
              <a:t>GHORI'S EMPIRE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† murdered 1206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22208" y="3429000"/>
            <a:ext cx="1115568" cy="868680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YILDIZ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Ghazni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10928" y="3749039"/>
            <a:ext cx="1115568" cy="868680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QABACHA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Multan–Uch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99648" y="3429000"/>
            <a:ext cx="1115568" cy="868680"/>
          </a:xfrm>
          <a:prstGeom prst="roundRect">
            <a:avLst/>
          </a:prstGeom>
          <a:solidFill>
            <a:srgbClr val="2E6B33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AIBAK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DELHI 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4892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One empire — three swords drawn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18 L -0.02 0 E" pathEditMode="relative" ptsTypes="">
                                      <p:cBhvr>
                                        <p:cTn id="4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480000">
                                      <p:cBhvr>
                                        <p:cTn id="4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22 L 0 0 E" pathEditMode="relative" ptsTypes="">
                                      <p:cBhvr>
                                        <p:cTn id="47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26 L 0.02 0 E" pathEditMode="relative" ptsTypes="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480000">
                                      <p:cBhvr>
                                        <p:cTn id="51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" dur="700" autoRev="1" repeatCount="3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9796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1600200"/>
            <a:ext cx="2834640" cy="914400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LAKH BAKSH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the giver of lakhs</a:t>
            </a:r>
          </a:p>
        </p:txBody>
      </p:sp>
      <p:sp>
        <p:nvSpPr>
          <p:cNvPr id="8" name="Oval 7"/>
          <p:cNvSpPr/>
          <p:nvPr/>
        </p:nvSpPr>
        <p:spPr>
          <a:xfrm>
            <a:off x="8915400" y="2697480"/>
            <a:ext cx="310896" cy="310896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55480" y="2697480"/>
            <a:ext cx="310896" cy="310896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2697480"/>
            <a:ext cx="310896" cy="310896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35640" y="2697480"/>
            <a:ext cx="310896" cy="310896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75720" y="2697480"/>
            <a:ext cx="310896" cy="310896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61722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Chroniclers rarely name him without praising his charity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46 E" pathEditMode="relative" ptsTypes="">
                                      <p:cBhvr>
                                        <p:cTn id="42" dur="16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0" presetClass="path" presetSubtype="0" fill="hold" grpId="0" nodeType="after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 0 L 0 0.46 E" pathEditMode="relative" ptsTypes="">
                                      <p:cBhvr>
                                        <p:cTn id="46" dur="178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0" presetClass="path" presetSubtype="0" fill="hold" grpId="0" nodeType="afterEffect">
                                  <p:stCondLst>
                                    <p:cond delay="640"/>
                                  </p:stCondLst>
                                  <p:childTnLst>
                                    <p:animMotion origin="layout" path="M 0 0 L 0 0.46 E" pathEditMode="relative" ptsTypes="">
                                      <p:cBhvr>
                                        <p:cTn id="50" dur="196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0" nodeType="after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 0.46 E" pathEditMode="relative" ptsTypes="">
                                      <p:cBhvr>
                                        <p:cTn id="54" dur="214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0" presetClass="path" presetSubtype="0" fill="hold" grpId="0" nodeType="after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 0.46 E" pathEditMode="relative" ptsTypes="">
                                      <p:cBhvr>
                                        <p:cTn id="58" dur="232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13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8881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1080" y="5577840"/>
            <a:ext cx="3108960" cy="731520"/>
          </a:xfrm>
          <a:prstGeom prst="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Rivals crushed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Times New Roman"/>
              </a:rPr>
              <a:t>Yildiz • Qabacha • Bengal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4736592"/>
            <a:ext cx="3108960" cy="731520"/>
          </a:xfrm>
          <a:prstGeom prst="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IQTA system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Times New Roman"/>
              </a:rPr>
              <a:t>land revenue = salary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3895344"/>
            <a:ext cx="3108960" cy="731520"/>
          </a:xfrm>
          <a:prstGeom prst="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The FORTY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Times New Roman"/>
              </a:rPr>
              <a:t>Turkan-i-Chahalgani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054095"/>
            <a:ext cx="3108960" cy="731520"/>
          </a:xfrm>
          <a:prstGeom prst="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TANKA + JITAL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Times New Roman"/>
              </a:rPr>
              <a:t>sound money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2212847"/>
            <a:ext cx="3108960" cy="731520"/>
          </a:xfrm>
          <a:prstGeom prst="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CALIPH 1229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Times New Roman"/>
              </a:rPr>
              <a:t>lawful sultanate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Brick by brick — a state is built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613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13258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0340D"/>
                </a:solidFill>
                <a:latin typeface="Times New Roman"/>
              </a:rPr>
              <a:t>1221 — the Indus stand-off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14432" y="1783080"/>
            <a:ext cx="128016" cy="329184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51206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6EA5"/>
                </a:solidFill>
                <a:latin typeface="Times New Roman"/>
              </a:rPr>
              <a:t>INDUS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2743200"/>
            <a:ext cx="1234440" cy="1005840"/>
          </a:xfrm>
          <a:prstGeom prst="roundRect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CHINGIZ</a:t>
            </a:r>
          </a:p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KHAN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0" y="2743200"/>
            <a:ext cx="1234440" cy="1005840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0" i="0">
                <a:solidFill>
                  <a:srgbClr val="FFE9C9"/>
                </a:solidFill>
                <a:latin typeface="Bernard MT Condensed"/>
              </a:rPr>
              <a:t>DELHI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Iltutmish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4069080"/>
            <a:ext cx="1965960" cy="685800"/>
          </a:xfrm>
          <a:prstGeom prst="roundRect">
            <a:avLst/>
          </a:prstGeom>
          <a:solidFill>
            <a:srgbClr val="FFE9C9"/>
          </a:solidFill>
          <a:ln w="1905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050" b="0" i="0">
                <a:solidFill>
                  <a:srgbClr val="261A10"/>
                </a:solidFill>
                <a:latin typeface="Times New Roman"/>
              </a:rPr>
              <a:t>“Delhi's climate</a:t>
            </a:r>
          </a:p>
          <a:p>
            <a:pPr algn="ctr"/>
            <a:r>
              <a:rPr sz="1050" b="0" i="0">
                <a:solidFill>
                  <a:srgbClr val="261A10"/>
                </a:solidFill>
                <a:latin typeface="Times New Roman"/>
              </a:rPr>
              <a:t>will not suit you”</a:t>
            </a:r>
          </a:p>
        </p:txBody>
      </p:sp>
      <p:pic>
        <p:nvPicPr>
          <p:cNvPr id="13" name="Picture 12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5806440"/>
            <a:ext cx="1234440" cy="182880"/>
          </a:xfrm>
          <a:prstGeom prst="rect">
            <a:avLst/>
          </a:prstGeom>
        </p:spPr>
      </p:pic>
      <p:pic>
        <p:nvPicPr>
          <p:cNvPr id="14" name="Picture 13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6053328"/>
            <a:ext cx="1234440" cy="182880"/>
          </a:xfrm>
          <a:prstGeom prst="rect">
            <a:avLst/>
          </a:prstGeom>
        </p:spPr>
      </p:pic>
      <p:pic>
        <p:nvPicPr>
          <p:cNvPr id="15" name="Picture 14" descr="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6291072"/>
            <a:ext cx="1234440" cy="1828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7 0 E" pathEditMode="relative" ptsTypes="">
                                      <p:cBhvr>
                                        <p:cTn id="53" dur="9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4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 -0.01 E" pathEditMode="relative" ptsTypes="">
                                      <p:cBhvr>
                                        <p:cTn id="63" dur="1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7" dur="600" autoRev="1" repeatCount="3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71" dur="2100" repeatCount="indefinite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0" presetClass="path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75" dur="170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79" dur="19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7967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  <p:sp>
        <p:nvSpPr>
          <p:cNvPr id="7" name="5-Point Star 6"/>
          <p:cNvSpPr/>
          <p:nvPr/>
        </p:nvSpPr>
        <p:spPr>
          <a:xfrm>
            <a:off x="10012680" y="1325880"/>
            <a:ext cx="548640" cy="548640"/>
          </a:xfrm>
          <a:prstGeom prst="star5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72600" y="1920240"/>
            <a:ext cx="1828800" cy="960120"/>
          </a:xfrm>
          <a:prstGeom prst="roundRect">
            <a:avLst/>
          </a:prstGeom>
          <a:solidFill>
            <a:srgbClr val="2E6B33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RAZIA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SULTAN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4983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B33"/>
                </a:solidFill>
                <a:latin typeface="Times New Roman"/>
              </a:rPr>
              <a:t>▲  raised by the people of Delhi (1236)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41324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0340D"/>
                </a:solidFill>
                <a:latin typeface="Times New Roman"/>
              </a:rPr>
              <a:t>▼  pulled down by the Turkish Forty (1240)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943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Not for ruling badly — for ruling too independently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.3 L 0 0 E" pathEditMode="relative" ptsTypes="">
                                      <p:cBhvr>
                                        <p:cTn id="45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12 0.26 E" pathEditMode="relative" ptsTypes="">
                                      <p:cBhvr>
                                        <p:cTn id="56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8" presetClass="emp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2400000">
                                      <p:cBhvr>
                                        <p:cTn id="58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9796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554480"/>
            <a:ext cx="2743200" cy="868680"/>
          </a:xfrm>
          <a:prstGeom prst="roundRect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0" i="0">
                <a:solidFill>
                  <a:srgbClr val="FFE9C9"/>
                </a:solidFill>
                <a:latin typeface="Bernard MT Condensed"/>
              </a:rPr>
              <a:t>THE FORTY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king-makers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464040" y="2423160"/>
            <a:ext cx="777240" cy="1143000"/>
          </a:xfrm>
          <a:prstGeom prst="line">
            <a:avLst/>
          </a:prstGeom>
          <a:ln w="1587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241280" y="2423160"/>
            <a:ext cx="777240" cy="1143000"/>
          </a:xfrm>
          <a:prstGeom prst="line">
            <a:avLst/>
          </a:prstGeom>
          <a:ln w="1587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464040" y="3566160"/>
            <a:ext cx="1554480" cy="1143000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PUPPET</a:t>
            </a:r>
          </a:p>
          <a:p>
            <a:pPr algn="ctr"/>
            <a:r>
              <a:rPr sz="1250" b="0" i="0">
                <a:solidFill>
                  <a:srgbClr val="FFE9C9"/>
                </a:solidFill>
                <a:latin typeface="Bernard MT Condensed"/>
              </a:rPr>
              <a:t>SULTAN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Times New Roman"/>
              </a:rPr>
              <a:t>Bahram • Masud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5029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Crowned, controlled… and cut loose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12 L 0 0 E" pathEditMode="relative" ptsTypes="">
                                      <p:cBhvr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2 0.004 L 0 0.006 L -0.012 0.004 L 0 0 E" pathEditMode="relative" ptsTypes="">
                                      <p:cBhvr>
                                        <p:cTn id="54" dur="26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10" grpId="0"/>
      <p:bldP spid="11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7967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291840"/>
            <a:ext cx="1417320" cy="2286000"/>
          </a:xfrm>
          <a:prstGeom prst="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0" i="0">
                <a:solidFill>
                  <a:srgbClr val="FFE9C9"/>
                </a:solidFill>
                <a:latin typeface="Bernard MT Condensed"/>
              </a:rPr>
              <a:t>THEATRE OF</a:t>
            </a:r>
          </a:p>
          <a:p>
            <a:pPr algn="ctr"/>
            <a:r>
              <a:rPr sz="1150" b="0" i="0">
                <a:solidFill>
                  <a:srgbClr val="FFE9C9"/>
                </a:solidFill>
                <a:latin typeface="Bernard MT Condensed"/>
              </a:rPr>
              <a:t>MAJESTY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Times New Roman"/>
              </a:rPr>
              <a:t>sijda • paibos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Times New Roman"/>
              </a:rPr>
              <a:t>Nauroz pomp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0" y="3291840"/>
            <a:ext cx="1417320" cy="2286000"/>
          </a:xfrm>
          <a:prstGeom prst="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0" i="0">
                <a:solidFill>
                  <a:srgbClr val="FFE9C9"/>
                </a:solidFill>
                <a:latin typeface="Bernard MT Condensed"/>
              </a:rPr>
              <a:t>BLOOD</a:t>
            </a:r>
          </a:p>
          <a:p>
            <a:pPr algn="ctr"/>
            <a:r>
              <a:rPr sz="1150" b="0" i="0">
                <a:solidFill>
                  <a:srgbClr val="FFE9C9"/>
                </a:solidFill>
                <a:latin typeface="Bernard MT Condensed"/>
              </a:rPr>
              <a:t>AND IRON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Times New Roman"/>
              </a:rPr>
              <a:t>bandits crushed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Times New Roman"/>
              </a:rPr>
              <a:t>barid spies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331720"/>
            <a:ext cx="3474720" cy="822960"/>
          </a:xfrm>
          <a:prstGeom prst="roundRect">
            <a:avLst/>
          </a:prstGeom>
          <a:solidFill>
            <a:srgbClr val="C88A3C"/>
          </a:solidFill>
          <a:ln w="1905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50" b="0" i="0">
                <a:solidFill>
                  <a:srgbClr val="261A10"/>
                </a:solidFill>
                <a:latin typeface="Bernard MT Condensed"/>
              </a:rPr>
              <a:t>ZIL-E-ILAHI</a:t>
            </a:r>
          </a:p>
          <a:p>
            <a:pPr algn="ctr"/>
            <a:r>
              <a:rPr sz="1050" b="1" i="0">
                <a:solidFill>
                  <a:srgbClr val="261A10"/>
                </a:solidFill>
                <a:latin typeface="Times New Roman"/>
              </a:rPr>
              <a:t>Shadow of God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5715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Majesty restored — at a price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22 L 0 0 E" pathEditMode="relative" ptsTypes="">
                                      <p:cBhvr>
                                        <p:cTn id="5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" dur="700" autoRev="1" repeatCount="300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34537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  <p:pic>
        <p:nvPicPr>
          <p:cNvPr id="7" name="Picture 6" descr="sword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377440"/>
            <a:ext cx="2651760" cy="1840154"/>
          </a:xfrm>
          <a:prstGeom prst="rect">
            <a:avLst/>
          </a:prstGeom>
        </p:spPr>
      </p:pic>
      <p:pic>
        <p:nvPicPr>
          <p:cNvPr id="8" name="Picture 7" descr="sword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377440"/>
            <a:ext cx="2651760" cy="1840154"/>
          </a:xfrm>
          <a:prstGeom prst="rect">
            <a:avLst/>
          </a:prstGeom>
        </p:spPr>
      </p:pic>
      <p:sp>
        <p:nvSpPr>
          <p:cNvPr id="9" name="8-Point Star 8"/>
          <p:cNvSpPr/>
          <p:nvPr/>
        </p:nvSpPr>
        <p:spPr>
          <a:xfrm>
            <a:off x="9646920" y="2834640"/>
            <a:ext cx="822960" cy="822960"/>
          </a:xfrm>
          <a:prstGeom prst="star8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4572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0.5 0.35 L 0 0 E" pathEditMode="relative" ptsTypes="">
                                      <p:cBhvr>
                                        <p:cTn id="37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3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35 0.35 L 0 0 E" pathEditMode="relative" ptsTypes="">
                                      <p:cBhvr>
                                        <p:cTn id="4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1500000">
                                      <p:cBhvr>
                                        <p:cTn id="42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30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" dur="650" autoRev="1" repeatCount="400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8881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463040"/>
            <a:ext cx="2011680" cy="868680"/>
          </a:xfrm>
          <a:prstGeom prst="roundRect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0" i="0">
                <a:solidFill>
                  <a:srgbClr val="FFE9C9"/>
                </a:solidFill>
                <a:latin typeface="Bernard MT Condensed"/>
              </a:rPr>
              <a:t>SULTAN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Times New Roman"/>
              </a:rPr>
              <a:t>Delhi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06040"/>
            <a:ext cx="2926080" cy="502920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Times New Roman"/>
              </a:rPr>
              <a:t>wazir • ariz • insha • qazi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5029200"/>
            <a:ext cx="2926080" cy="868680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0" i="0">
                <a:solidFill>
                  <a:srgbClr val="FFE9C9"/>
                </a:solidFill>
                <a:latin typeface="Bernard MT Condensed"/>
              </a:rPr>
              <a:t>MUQTIS — IQTA PROVINCES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Times New Roman"/>
              </a:rPr>
              <a:t>collect revenue • keep troops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4663440"/>
            <a:ext cx="411480" cy="411480"/>
          </a:xfrm>
          <a:prstGeom prst="ellipse">
            <a:avLst/>
          </a:prstGeom>
          <a:solidFill>
            <a:srgbClr val="2E6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▲</a:t>
            </a:r>
          </a:p>
        </p:txBody>
      </p:sp>
      <p:sp>
        <p:nvSpPr>
          <p:cNvPr id="11" name="Oval 10"/>
          <p:cNvSpPr/>
          <p:nvPr/>
        </p:nvSpPr>
        <p:spPr>
          <a:xfrm>
            <a:off x="10927080" y="3291840"/>
            <a:ext cx="411480" cy="411480"/>
          </a:xfrm>
          <a:prstGeom prst="ellipse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39776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6B33"/>
                </a:solidFill>
                <a:latin typeface="Times New Roman"/>
              </a:rP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3977639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0340D"/>
                </a:solidFill>
                <a:latin typeface="Times New Roman"/>
              </a:rPr>
              <a:t>orders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 E" pathEditMode="relative" ptsTypes="">
                                      <p:cBhvr>
                                        <p:cTn id="59" dur="18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 0.2 E" pathEditMode="relative" ptsTypes="">
                                      <p:cBhvr>
                                        <p:cTn id="63" dur="18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2" grpId="0"/>
      <p:bldP spid="13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8881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5897880"/>
            <a:ext cx="3291840" cy="9144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9532619" y="4937760"/>
            <a:ext cx="1417320" cy="960120"/>
          </a:xfrm>
          <a:prstGeom prst="round2Same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000" b="1" i="0">
                <a:solidFill>
                  <a:srgbClr val="FFE9C9"/>
                </a:solidFill>
                <a:latin typeface="Times New Roman"/>
              </a:rPr>
              <a:t>1199</a:t>
            </a:r>
          </a:p>
        </p:txBody>
      </p:sp>
      <p:sp>
        <p:nvSpPr>
          <p:cNvPr id="9" name="Round Same Side Corner Rectangle 8"/>
          <p:cNvSpPr/>
          <p:nvPr/>
        </p:nvSpPr>
        <p:spPr>
          <a:xfrm>
            <a:off x="9656063" y="4069080"/>
            <a:ext cx="1170432" cy="868680"/>
          </a:xfrm>
          <a:prstGeom prst="round2Same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6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9765792" y="3291840"/>
            <a:ext cx="950976" cy="777240"/>
          </a:xfrm>
          <a:prstGeom prst="round2Same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6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9866376" y="2651760"/>
            <a:ext cx="749808" cy="640080"/>
          </a:xfrm>
          <a:prstGeom prst="round2Same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000" b="1" i="0">
                <a:solidFill>
                  <a:srgbClr val="FFE9C9"/>
                </a:solidFill>
                <a:latin typeface="Times New Roman"/>
              </a:rPr>
              <a:t>1220</a:t>
            </a:r>
          </a:p>
        </p:txBody>
      </p:sp>
      <p:sp>
        <p:nvSpPr>
          <p:cNvPr id="12" name="Round Same Side Corner Rectangle 11"/>
          <p:cNvSpPr/>
          <p:nvPr/>
        </p:nvSpPr>
        <p:spPr>
          <a:xfrm>
            <a:off x="9957815" y="2103120"/>
            <a:ext cx="566928" cy="548640"/>
          </a:xfrm>
          <a:prstGeom prst="round2Same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6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10085832" y="1810512"/>
            <a:ext cx="310896" cy="274320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0340D"/>
                </a:solidFill>
                <a:latin typeface="Times New Roman"/>
              </a:rPr>
              <a:t>QUTB MINAR — 72.5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6080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7F7F7F"/>
                </a:solidFill>
                <a:latin typeface="Times New Roman"/>
              </a:rPr>
              <a:t>begun by Aibak • finished by Iltutmish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8" grpId="0"/>
      <p:bldP spid="9" grpId="0"/>
      <p:bldP spid="10" grpId="0"/>
      <p:bldP spid="11" grpId="0"/>
      <p:bldP spid="12" grpId="0"/>
      <p:bldP spid="7" grpId="0"/>
      <p:bldP spid="13" grpId="0"/>
      <p:bldP spid="14" grpId="0"/>
      <p:bldP spid="15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9796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463040"/>
            <a:ext cx="2651760" cy="822960"/>
          </a:xfrm>
          <a:prstGeom prst="roundRect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0" i="0">
                <a:solidFill>
                  <a:srgbClr val="FFE9C9"/>
                </a:solidFill>
                <a:latin typeface="Bernard MT Condensed"/>
              </a:rPr>
              <a:t>1206–1290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WHAT THEY LEFT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2514600"/>
            <a:ext cx="2651760" cy="53035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DELHI as capital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182112"/>
            <a:ext cx="2651760" cy="530352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IQTA + ministries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49624"/>
            <a:ext cx="2651760" cy="53035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TANKA currency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4517136"/>
            <a:ext cx="2651760" cy="530352"/>
          </a:xfrm>
          <a:prstGeom prst="roundRect">
            <a:avLst/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Mongols kept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5184648"/>
            <a:ext cx="2651760" cy="530352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Indo-Islamic culture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5852160"/>
            <a:ext cx="2651760" cy="530352"/>
          </a:xfrm>
          <a:prstGeom prst="roundRect">
            <a:avLst/>
          </a:prstGeom>
          <a:solidFill>
            <a:srgbClr val="2E6B33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Times New Roman"/>
              </a:rPr>
              <a:t>A throne EARNED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48" dur="3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51" dur="3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54" dur="3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57" dur="3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60" dur="3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0 L 0 0 E" pathEditMode="relative" ptsTypes="">
                                      <p:cBhvr>
                                        <p:cTn id="63" dur="3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  <p:pic>
        <p:nvPicPr>
          <p:cNvPr id="8" name="Picture 7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81328" y="4663440"/>
            <a:ext cx="1234440" cy="95477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800" autoRev="1" repeatCount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51" dur="60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